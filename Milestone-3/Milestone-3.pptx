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7"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65C74E-6387-4F93-876F-A5B5A2F6255E}" v="13" dt="2025-11-20T19:19:23.4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tam chipkar" userId="f16cdcd321338ab3" providerId="LiveId" clId="{C521DB38-EAA0-4A23-A27F-139C3B16174F}"/>
    <pc:docChg chg="undo custSel addSld modSld">
      <pc:chgData name="Gautam chipkar" userId="f16cdcd321338ab3" providerId="LiveId" clId="{C521DB38-EAA0-4A23-A27F-139C3B16174F}" dt="2025-11-20T19:19:49.045" v="311" actId="20577"/>
      <pc:docMkLst>
        <pc:docMk/>
      </pc:docMkLst>
      <pc:sldChg chg="modSp mod">
        <pc:chgData name="Gautam chipkar" userId="f16cdcd321338ab3" providerId="LiveId" clId="{C521DB38-EAA0-4A23-A27F-139C3B16174F}" dt="2025-11-20T19:19:49.045" v="311" actId="20577"/>
        <pc:sldMkLst>
          <pc:docMk/>
          <pc:sldMk cId="3006463183" sldId="258"/>
        </pc:sldMkLst>
        <pc:spChg chg="mod">
          <ac:chgData name="Gautam chipkar" userId="f16cdcd321338ab3" providerId="LiveId" clId="{C521DB38-EAA0-4A23-A27F-139C3B16174F}" dt="2025-11-20T19:19:49.045" v="311" actId="20577"/>
          <ac:spMkLst>
            <pc:docMk/>
            <pc:sldMk cId="3006463183" sldId="258"/>
            <ac:spMk id="3" creationId="{18E26646-542B-08E5-556C-C2CB4574BEF9}"/>
          </ac:spMkLst>
        </pc:spChg>
        <pc:spChg chg="mod">
          <ac:chgData name="Gautam chipkar" userId="f16cdcd321338ab3" providerId="LiveId" clId="{C521DB38-EAA0-4A23-A27F-139C3B16174F}" dt="2025-11-20T18:42:22.143" v="216" actId="12"/>
          <ac:spMkLst>
            <pc:docMk/>
            <pc:sldMk cId="3006463183" sldId="258"/>
            <ac:spMk id="5" creationId="{F058AB5E-4483-A254-A99E-40B74D9CAA66}"/>
          </ac:spMkLst>
        </pc:spChg>
        <pc:spChg chg="mod">
          <ac:chgData name="Gautam chipkar" userId="f16cdcd321338ab3" providerId="LiveId" clId="{C521DB38-EAA0-4A23-A27F-139C3B16174F}" dt="2025-11-20T18:42:27.823" v="217" actId="12"/>
          <ac:spMkLst>
            <pc:docMk/>
            <pc:sldMk cId="3006463183" sldId="258"/>
            <ac:spMk id="10" creationId="{2D572ED5-DD9C-333A-B6AE-0CFB4AAE62F2}"/>
          </ac:spMkLst>
        </pc:spChg>
      </pc:sldChg>
      <pc:sldChg chg="modSp mod">
        <pc:chgData name="Gautam chipkar" userId="f16cdcd321338ab3" providerId="LiveId" clId="{C521DB38-EAA0-4A23-A27F-139C3B16174F}" dt="2025-11-20T18:33:08.646" v="47" actId="113"/>
        <pc:sldMkLst>
          <pc:docMk/>
          <pc:sldMk cId="1756678211" sldId="259"/>
        </pc:sldMkLst>
        <pc:spChg chg="mod">
          <ac:chgData name="Gautam chipkar" userId="f16cdcd321338ab3" providerId="LiveId" clId="{C521DB38-EAA0-4A23-A27F-139C3B16174F}" dt="2025-11-20T18:33:01.392" v="46" actId="114"/>
          <ac:spMkLst>
            <pc:docMk/>
            <pc:sldMk cId="1756678211" sldId="259"/>
            <ac:spMk id="2" creationId="{09ADB550-11C8-2AE4-4BE2-D0014DC98E68}"/>
          </ac:spMkLst>
        </pc:spChg>
        <pc:spChg chg="mod">
          <ac:chgData name="Gautam chipkar" userId="f16cdcd321338ab3" providerId="LiveId" clId="{C521DB38-EAA0-4A23-A27F-139C3B16174F}" dt="2025-11-20T18:33:08.646" v="47" actId="113"/>
          <ac:spMkLst>
            <pc:docMk/>
            <pc:sldMk cId="1756678211" sldId="259"/>
            <ac:spMk id="3" creationId="{AF90EFC9-718F-CEDF-E54D-AA5BA717269A}"/>
          </ac:spMkLst>
        </pc:spChg>
      </pc:sldChg>
      <pc:sldChg chg="modSp mod">
        <pc:chgData name="Gautam chipkar" userId="f16cdcd321338ab3" providerId="LiveId" clId="{C521DB38-EAA0-4A23-A27F-139C3B16174F}" dt="2025-11-20T18:35:09.270" v="80" actId="20577"/>
        <pc:sldMkLst>
          <pc:docMk/>
          <pc:sldMk cId="2417799997" sldId="260"/>
        </pc:sldMkLst>
        <pc:spChg chg="mod">
          <ac:chgData name="Gautam chipkar" userId="f16cdcd321338ab3" providerId="LiveId" clId="{C521DB38-EAA0-4A23-A27F-139C3B16174F}" dt="2025-11-20T18:35:09.270" v="80" actId="20577"/>
          <ac:spMkLst>
            <pc:docMk/>
            <pc:sldMk cId="2417799997" sldId="260"/>
            <ac:spMk id="3" creationId="{29265A7A-2E8B-2941-8E94-D4AD8A92FF3D}"/>
          </ac:spMkLst>
        </pc:spChg>
      </pc:sldChg>
      <pc:sldChg chg="modSp mod">
        <pc:chgData name="Gautam chipkar" userId="f16cdcd321338ab3" providerId="LiveId" clId="{C521DB38-EAA0-4A23-A27F-139C3B16174F}" dt="2025-11-20T18:36:38.814" v="112" actId="207"/>
        <pc:sldMkLst>
          <pc:docMk/>
          <pc:sldMk cId="2174421001" sldId="261"/>
        </pc:sldMkLst>
        <pc:spChg chg="mod">
          <ac:chgData name="Gautam chipkar" userId="f16cdcd321338ab3" providerId="LiveId" clId="{C521DB38-EAA0-4A23-A27F-139C3B16174F}" dt="2025-11-20T18:36:38.814" v="112" actId="207"/>
          <ac:spMkLst>
            <pc:docMk/>
            <pc:sldMk cId="2174421001" sldId="261"/>
            <ac:spMk id="3" creationId="{95D1F529-BE46-5432-C8FC-CA7AD540D5CE}"/>
          </ac:spMkLst>
        </pc:spChg>
      </pc:sldChg>
      <pc:sldChg chg="modSp mod">
        <pc:chgData name="Gautam chipkar" userId="f16cdcd321338ab3" providerId="LiveId" clId="{C521DB38-EAA0-4A23-A27F-139C3B16174F}" dt="2025-11-20T18:41:53.688" v="212" actId="20577"/>
        <pc:sldMkLst>
          <pc:docMk/>
          <pc:sldMk cId="3025642913" sldId="262"/>
        </pc:sldMkLst>
        <pc:spChg chg="mod">
          <ac:chgData name="Gautam chipkar" userId="f16cdcd321338ab3" providerId="LiveId" clId="{C521DB38-EAA0-4A23-A27F-139C3B16174F}" dt="2025-11-20T18:41:53.688" v="212" actId="20577"/>
          <ac:spMkLst>
            <pc:docMk/>
            <pc:sldMk cId="3025642913" sldId="262"/>
            <ac:spMk id="3" creationId="{30642B6B-85F1-A95D-DE0D-463C86E44177}"/>
          </ac:spMkLst>
        </pc:spChg>
        <pc:spChg chg="mod">
          <ac:chgData name="Gautam chipkar" userId="f16cdcd321338ab3" providerId="LiveId" clId="{C521DB38-EAA0-4A23-A27F-139C3B16174F}" dt="2025-11-20T18:37:22.147" v="117" actId="115"/>
          <ac:spMkLst>
            <pc:docMk/>
            <pc:sldMk cId="3025642913" sldId="262"/>
            <ac:spMk id="5" creationId="{AC66CC5E-AE48-92B2-4F3B-F2908E5EBC7C}"/>
          </ac:spMkLst>
        </pc:spChg>
      </pc:sldChg>
      <pc:sldChg chg="modSp mod">
        <pc:chgData name="Gautam chipkar" userId="f16cdcd321338ab3" providerId="LiveId" clId="{C521DB38-EAA0-4A23-A27F-139C3B16174F}" dt="2025-11-20T18:38:54.181" v="151" actId="207"/>
        <pc:sldMkLst>
          <pc:docMk/>
          <pc:sldMk cId="1239503824" sldId="263"/>
        </pc:sldMkLst>
        <pc:spChg chg="mod">
          <ac:chgData name="Gautam chipkar" userId="f16cdcd321338ab3" providerId="LiveId" clId="{C521DB38-EAA0-4A23-A27F-139C3B16174F}" dt="2025-11-20T18:38:54.181" v="151" actId="207"/>
          <ac:spMkLst>
            <pc:docMk/>
            <pc:sldMk cId="1239503824" sldId="263"/>
            <ac:spMk id="3" creationId="{2FBE5AE4-39C2-C566-0266-36F3247A320A}"/>
          </ac:spMkLst>
        </pc:spChg>
      </pc:sldChg>
      <pc:sldChg chg="modSp mod">
        <pc:chgData name="Gautam chipkar" userId="f16cdcd321338ab3" providerId="LiveId" clId="{C521DB38-EAA0-4A23-A27F-139C3B16174F}" dt="2025-11-20T18:39:20.209" v="155" actId="207"/>
        <pc:sldMkLst>
          <pc:docMk/>
          <pc:sldMk cId="528465784" sldId="264"/>
        </pc:sldMkLst>
        <pc:spChg chg="mod">
          <ac:chgData name="Gautam chipkar" userId="f16cdcd321338ab3" providerId="LiveId" clId="{C521DB38-EAA0-4A23-A27F-139C3B16174F}" dt="2025-11-20T18:39:20.209" v="155" actId="207"/>
          <ac:spMkLst>
            <pc:docMk/>
            <pc:sldMk cId="528465784" sldId="264"/>
            <ac:spMk id="3" creationId="{AEB0608D-7425-AF91-B58E-419ABA305B39}"/>
          </ac:spMkLst>
        </pc:spChg>
      </pc:sldChg>
      <pc:sldChg chg="modSp mod">
        <pc:chgData name="Gautam chipkar" userId="f16cdcd321338ab3" providerId="LiveId" clId="{C521DB38-EAA0-4A23-A27F-139C3B16174F}" dt="2025-11-20T18:42:06.284" v="215" actId="20577"/>
        <pc:sldMkLst>
          <pc:docMk/>
          <pc:sldMk cId="2096529329" sldId="265"/>
        </pc:sldMkLst>
        <pc:spChg chg="mod">
          <ac:chgData name="Gautam chipkar" userId="f16cdcd321338ab3" providerId="LiveId" clId="{C521DB38-EAA0-4A23-A27F-139C3B16174F}" dt="2025-11-20T18:42:06.284" v="215" actId="20577"/>
          <ac:spMkLst>
            <pc:docMk/>
            <pc:sldMk cId="2096529329" sldId="265"/>
            <ac:spMk id="3" creationId="{57FBD18F-4D59-ACB7-EC8F-5AE7FA615C7A}"/>
          </ac:spMkLst>
        </pc:spChg>
      </pc:sldChg>
      <pc:sldChg chg="addSp modSp mod">
        <pc:chgData name="Gautam chipkar" userId="f16cdcd321338ab3" providerId="LiveId" clId="{C521DB38-EAA0-4A23-A27F-139C3B16174F}" dt="2025-11-20T19:19:23.498" v="308"/>
        <pc:sldMkLst>
          <pc:docMk/>
          <pc:sldMk cId="184529459" sldId="266"/>
        </pc:sldMkLst>
        <pc:spChg chg="add mod">
          <ac:chgData name="Gautam chipkar" userId="f16cdcd321338ab3" providerId="LiveId" clId="{C521DB38-EAA0-4A23-A27F-139C3B16174F}" dt="2025-11-20T19:18:28.388" v="268"/>
          <ac:spMkLst>
            <pc:docMk/>
            <pc:sldMk cId="184529459" sldId="266"/>
            <ac:spMk id="5" creationId="{6F4429EB-4DEC-71AD-3CD1-4CFF7DB76608}"/>
          </ac:spMkLst>
        </pc:spChg>
        <pc:spChg chg="add mod">
          <ac:chgData name="Gautam chipkar" userId="f16cdcd321338ab3" providerId="LiveId" clId="{C521DB38-EAA0-4A23-A27F-139C3B16174F}" dt="2025-11-20T19:18:58.597" v="280" actId="255"/>
          <ac:spMkLst>
            <pc:docMk/>
            <pc:sldMk cId="184529459" sldId="266"/>
            <ac:spMk id="6" creationId="{32470E66-5D36-1D4E-C708-385ACEF62CB6}"/>
          </ac:spMkLst>
        </pc:spChg>
        <pc:spChg chg="add mod">
          <ac:chgData name="Gautam chipkar" userId="f16cdcd321338ab3" providerId="LiveId" clId="{C521DB38-EAA0-4A23-A27F-139C3B16174F}" dt="2025-11-20T19:19:23.498" v="308"/>
          <ac:spMkLst>
            <pc:docMk/>
            <pc:sldMk cId="184529459" sldId="266"/>
            <ac:spMk id="7" creationId="{2E17FDD0-0A0D-1F28-CAEB-5DEBE0405A6E}"/>
          </ac:spMkLst>
        </pc:spChg>
        <pc:picChg chg="add mod">
          <ac:chgData name="Gautam chipkar" userId="f16cdcd321338ab3" providerId="LiveId" clId="{C521DB38-EAA0-4A23-A27F-139C3B16174F}" dt="2025-11-20T19:17:39.855" v="259" actId="1076"/>
          <ac:picMkLst>
            <pc:docMk/>
            <pc:sldMk cId="184529459" sldId="266"/>
            <ac:picMk id="3" creationId="{8D0D5AFB-080C-BD62-E9F3-799E94C87BF8}"/>
          </ac:picMkLst>
        </pc:picChg>
      </pc:sldChg>
      <pc:sldChg chg="addSp modSp new mod">
        <pc:chgData name="Gautam chipkar" userId="f16cdcd321338ab3" providerId="LiveId" clId="{C521DB38-EAA0-4A23-A27F-139C3B16174F}" dt="2025-11-20T18:48:38.050" v="253" actId="122"/>
        <pc:sldMkLst>
          <pc:docMk/>
          <pc:sldMk cId="3125984960" sldId="267"/>
        </pc:sldMkLst>
        <pc:spChg chg="add mod">
          <ac:chgData name="Gautam chipkar" userId="f16cdcd321338ab3" providerId="LiveId" clId="{C521DB38-EAA0-4A23-A27F-139C3B16174F}" dt="2025-11-20T18:48:38.050" v="253" actId="122"/>
          <ac:spMkLst>
            <pc:docMk/>
            <pc:sldMk cId="3125984960" sldId="267"/>
            <ac:spMk id="6" creationId="{5DEE2817-6F7A-FD75-4EC5-B75436DF492D}"/>
          </ac:spMkLst>
        </pc:spChg>
        <pc:picChg chg="add mod">
          <ac:chgData name="Gautam chipkar" userId="f16cdcd321338ab3" providerId="LiveId" clId="{C521DB38-EAA0-4A23-A27F-139C3B16174F}" dt="2025-11-20T18:47:18.083" v="221" actId="1076"/>
          <ac:picMkLst>
            <pc:docMk/>
            <pc:sldMk cId="3125984960" sldId="267"/>
            <ac:picMk id="3" creationId="{5772B696-D04E-5D6F-D4B1-A6414AB9B638}"/>
          </ac:picMkLst>
        </pc:picChg>
        <pc:picChg chg="add mod">
          <ac:chgData name="Gautam chipkar" userId="f16cdcd321338ab3" providerId="LiveId" clId="{C521DB38-EAA0-4A23-A27F-139C3B16174F}" dt="2025-11-20T18:48:03.072" v="229" actId="1076"/>
          <ac:picMkLst>
            <pc:docMk/>
            <pc:sldMk cId="3125984960" sldId="267"/>
            <ac:picMk id="5" creationId="{018D935E-0D66-744C-2DD6-D6286323E52C}"/>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11/20/2025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11/20/2025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and orange text&#10;&#10;AI-generated content may be incorrect.">
            <a:extLst>
              <a:ext uri="{FF2B5EF4-FFF2-40B4-BE49-F238E27FC236}">
                <a16:creationId xmlns:a16="http://schemas.microsoft.com/office/drawing/2014/main" id="{CEE69F99-A8A4-8044-BDF6-D0D1EFAFFC56}"/>
              </a:ext>
            </a:extLst>
          </p:cNvPr>
          <p:cNvPicPr>
            <a:picLocks noChangeAspect="1"/>
          </p:cNvPicPr>
          <p:nvPr/>
        </p:nvPicPr>
        <p:blipFill>
          <a:blip r:embed="rId2">
            <a:alphaModFix/>
          </a:blip>
          <a:stretch>
            <a:fillRect/>
          </a:stretch>
        </p:blipFill>
        <p:spPr>
          <a:xfrm>
            <a:off x="5024437" y="552820"/>
            <a:ext cx="2143125" cy="2143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C489AE3D-C819-17D6-38BD-575AF2CCD06D}"/>
              </a:ext>
            </a:extLst>
          </p:cNvPr>
          <p:cNvSpPr txBox="1"/>
          <p:nvPr/>
        </p:nvSpPr>
        <p:spPr>
          <a:xfrm>
            <a:off x="3045542" y="3429000"/>
            <a:ext cx="6100916" cy="1200329"/>
          </a:xfrm>
          <a:prstGeom prst="rect">
            <a:avLst/>
          </a:prstGeom>
          <a:noFill/>
        </p:spPr>
        <p:txBody>
          <a:bodyPr wrap="square">
            <a:spAutoFit/>
          </a:bodyPr>
          <a:lstStyle/>
          <a:p>
            <a:pPr algn="ctr"/>
            <a:r>
              <a:rPr lang="en-US" sz="2400" dirty="0">
                <a:solidFill>
                  <a:schemeClr val="bg1"/>
                </a:solidFill>
                <a:effectLst>
                  <a:outerShdw blurRad="38100" dist="38100" dir="2700000" algn="tl">
                    <a:srgbClr val="000000">
                      <a:alpha val="43137"/>
                    </a:srgbClr>
                  </a:outerShdw>
                </a:effectLst>
                <a:latin typeface="Copperplate Gothic Light" panose="020E0507020206020404" pitchFamily="34" charset="0"/>
              </a:rPr>
              <a:t>Controlling volume with hand gestures using a webcam </a:t>
            </a:r>
            <a:endParaRPr lang="en-IN" sz="2400" dirty="0">
              <a:solidFill>
                <a:schemeClr val="bg1"/>
              </a:solidFill>
              <a:effectLst>
                <a:outerShdw blurRad="38100" dist="38100" dir="2700000" algn="tl">
                  <a:srgbClr val="000000">
                    <a:alpha val="43137"/>
                  </a:srgbClr>
                </a:outerShdw>
              </a:effectLst>
              <a:latin typeface="Copperplate Gothic Light" panose="020E0507020206020404" pitchFamily="34" charset="0"/>
            </a:endParaRPr>
          </a:p>
          <a:p>
            <a:pPr algn="ctr"/>
            <a:endParaRPr lang="en-IN" sz="2400" dirty="0">
              <a:solidFill>
                <a:schemeClr val="bg1"/>
              </a:solidFill>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838F5C2-0C62-0C70-1441-B881BC787359}"/>
              </a:ext>
            </a:extLst>
          </p:cNvPr>
          <p:cNvSpPr txBox="1"/>
          <p:nvPr/>
        </p:nvSpPr>
        <p:spPr>
          <a:xfrm>
            <a:off x="4653116" y="4993052"/>
            <a:ext cx="6100916" cy="400110"/>
          </a:xfrm>
          <a:prstGeom prst="rect">
            <a:avLst/>
          </a:prstGeom>
          <a:noFill/>
        </p:spPr>
        <p:txBody>
          <a:bodyPr wrap="square">
            <a:spAutoFit/>
          </a:bodyPr>
          <a:lstStyle/>
          <a:p>
            <a:r>
              <a:rPr lang="en-US" sz="2000" dirty="0">
                <a:effectLst>
                  <a:outerShdw blurRad="38100" dist="38100" dir="2700000" algn="tl">
                    <a:srgbClr val="000000">
                      <a:alpha val="43137"/>
                    </a:srgbClr>
                  </a:outerShdw>
                </a:effectLst>
              </a:rPr>
              <a:t>BY : GAUTAM N CHIPKAR </a:t>
            </a:r>
            <a:endParaRPr lang="en-IN"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72958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E26646-542B-08E5-556C-C2CB4574BEF9}"/>
              </a:ext>
            </a:extLst>
          </p:cNvPr>
          <p:cNvSpPr txBox="1"/>
          <p:nvPr/>
        </p:nvSpPr>
        <p:spPr>
          <a:xfrm>
            <a:off x="2794820" y="279488"/>
            <a:ext cx="6100916" cy="707886"/>
          </a:xfrm>
          <a:prstGeom prst="rect">
            <a:avLst/>
          </a:prstGeom>
          <a:noFill/>
        </p:spPr>
        <p:txBody>
          <a:bodyPr wrap="square">
            <a:spAutoFit/>
          </a:bodyPr>
          <a:lstStyle/>
          <a:p>
            <a:pPr algn="ctr"/>
            <a:r>
              <a:rPr lang="en-US" sz="2000" dirty="0">
                <a:solidFill>
                  <a:schemeClr val="bg1"/>
                </a:solidFill>
                <a:effectLst>
                  <a:outerShdw blurRad="38100" dist="38100" dir="2700000" algn="tl">
                    <a:srgbClr val="000000">
                      <a:alpha val="43137"/>
                    </a:srgbClr>
                  </a:outerShdw>
                </a:effectLst>
              </a:rPr>
              <a:t>MILESTONE 3</a:t>
            </a:r>
          </a:p>
          <a:p>
            <a:pPr algn="ctr"/>
            <a:r>
              <a:rPr lang="en-US" sz="2000" dirty="0">
                <a:solidFill>
                  <a:schemeClr val="bg1"/>
                </a:solidFill>
                <a:effectLst>
                  <a:outerShdw blurRad="38100" dist="38100" dir="2700000" algn="tl">
                    <a:srgbClr val="000000">
                      <a:alpha val="43137"/>
                    </a:srgbClr>
                  </a:outerShdw>
                </a:effectLst>
              </a:rPr>
              <a:t>VOLUME MAPPING AND CONTROL MODULE</a:t>
            </a:r>
            <a:endParaRPr lang="en-IN" sz="2000" dirty="0">
              <a:solidFill>
                <a:schemeClr val="bg1"/>
              </a:solidFill>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F058AB5E-4483-A254-A99E-40B74D9CAA66}"/>
              </a:ext>
            </a:extLst>
          </p:cNvPr>
          <p:cNvSpPr txBox="1"/>
          <p:nvPr/>
        </p:nvSpPr>
        <p:spPr>
          <a:xfrm>
            <a:off x="865010" y="1273006"/>
            <a:ext cx="10461979" cy="1323439"/>
          </a:xfrm>
          <a:prstGeom prst="rect">
            <a:avLst/>
          </a:prstGeom>
          <a:noFill/>
        </p:spPr>
        <p:txBody>
          <a:bodyPr wrap="square">
            <a:spAutoFit/>
          </a:bodyPr>
          <a:lstStyle/>
          <a:p>
            <a:pPr marL="342900" indent="-342900">
              <a:buFont typeface="Arial" panose="020B0604020202020204" pitchFamily="34" charset="0"/>
              <a:buChar char="•"/>
            </a:pPr>
            <a:r>
              <a:rPr lang="en-US" sz="2000" b="1" i="1" dirty="0">
                <a:effectLst>
                  <a:outerShdw blurRad="38100" dist="38100" dir="2700000" algn="tl">
                    <a:srgbClr val="000000">
                      <a:alpha val="43137"/>
                    </a:srgbClr>
                  </a:outerShdw>
                </a:effectLst>
              </a:rPr>
              <a:t>PROJECT OBJECTIVE</a:t>
            </a:r>
          </a:p>
          <a:p>
            <a:pPr>
              <a:buNone/>
            </a:pPr>
            <a:r>
              <a:rPr lang="en-US" sz="2000" b="1" dirty="0">
                <a:solidFill>
                  <a:schemeClr val="bg1"/>
                </a:solidFill>
                <a:effectLst>
                  <a:outerShdw blurRad="38100" dist="38100" dir="2700000" algn="tl">
                    <a:srgbClr val="000000">
                      <a:alpha val="43137"/>
                    </a:srgbClr>
                  </a:outerShdw>
                </a:effectLst>
              </a:rPr>
              <a:t>Primary Goal:</a:t>
            </a:r>
            <a:r>
              <a:rPr lang="en-US" sz="2000" dirty="0">
                <a:solidFill>
                  <a:schemeClr val="bg1"/>
                </a:solidFill>
                <a:effectLst>
                  <a:outerShdw blurRad="38100" dist="38100" dir="2700000" algn="tl">
                    <a:srgbClr val="000000">
                      <a:alpha val="43137"/>
                    </a:srgbClr>
                  </a:outerShdw>
                </a:effectLst>
              </a:rPr>
              <a:t> To develop a </a:t>
            </a:r>
            <a:r>
              <a:rPr lang="en-US" sz="2000" b="1" dirty="0">
                <a:solidFill>
                  <a:schemeClr val="bg1"/>
                </a:solidFill>
                <a:effectLst>
                  <a:outerShdw blurRad="38100" dist="38100" dir="2700000" algn="tl">
                    <a:srgbClr val="000000">
                      <a:alpha val="43137"/>
                    </a:srgbClr>
                  </a:outerShdw>
                </a:effectLst>
              </a:rPr>
              <a:t>Hybrid Audio Control Utility</a:t>
            </a:r>
            <a:r>
              <a:rPr lang="en-US" sz="2000" dirty="0">
                <a:solidFill>
                  <a:schemeClr val="bg1"/>
                </a:solidFill>
                <a:effectLst>
                  <a:outerShdw blurRad="38100" dist="38100" dir="2700000" algn="tl">
                    <a:srgbClr val="000000">
                      <a:alpha val="43137"/>
                    </a:srgbClr>
                  </a:outerShdw>
                </a:effectLst>
              </a:rPr>
              <a:t> that provides a visual dashboard for monitoring microphone levels while simultaneously enabling system-wide "background" control via global hotkeys.</a:t>
            </a:r>
          </a:p>
        </p:txBody>
      </p:sp>
      <p:pic>
        <p:nvPicPr>
          <p:cNvPr id="9" name="Picture 8">
            <a:extLst>
              <a:ext uri="{FF2B5EF4-FFF2-40B4-BE49-F238E27FC236}">
                <a16:creationId xmlns:a16="http://schemas.microsoft.com/office/drawing/2014/main" id="{BDD243F6-ABCE-072C-105F-4DC9FD85B39D}"/>
              </a:ext>
            </a:extLst>
          </p:cNvPr>
          <p:cNvPicPr>
            <a:picLocks noChangeAspect="1"/>
          </p:cNvPicPr>
          <p:nvPr/>
        </p:nvPicPr>
        <p:blipFill>
          <a:blip r:embed="rId2"/>
          <a:stretch>
            <a:fillRect/>
          </a:stretch>
        </p:blipFill>
        <p:spPr>
          <a:xfrm>
            <a:off x="1458008" y="3177737"/>
            <a:ext cx="6391491" cy="3442147"/>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2D572ED5-DD9C-333A-B6AE-0CFB4AAE62F2}"/>
              </a:ext>
            </a:extLst>
          </p:cNvPr>
          <p:cNvSpPr txBox="1"/>
          <p:nvPr/>
        </p:nvSpPr>
        <p:spPr>
          <a:xfrm>
            <a:off x="859364" y="2758966"/>
            <a:ext cx="5236635" cy="369332"/>
          </a:xfrm>
          <a:prstGeom prst="rect">
            <a:avLst/>
          </a:prstGeom>
          <a:noFill/>
        </p:spPr>
        <p:txBody>
          <a:bodyPr wrap="square" rtlCol="0">
            <a:spAutoFit/>
          </a:bodyPr>
          <a:lstStyle/>
          <a:p>
            <a:pPr marL="285750" indent="-285750">
              <a:buFont typeface="Arial" panose="020B0604020202020204" pitchFamily="34" charset="0"/>
              <a:buChar char="•"/>
            </a:pPr>
            <a:r>
              <a:rPr lang="en-US" b="1" i="1" dirty="0">
                <a:effectLst>
                  <a:outerShdw blurRad="38100" dist="38100" dir="2700000" algn="tl">
                    <a:srgbClr val="000000">
                      <a:alpha val="43137"/>
                    </a:srgbClr>
                  </a:outerShdw>
                </a:effectLst>
              </a:rPr>
              <a:t>TECHNOLOGY STACK</a:t>
            </a:r>
            <a:endParaRPr lang="en-IN" b="1"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06463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ADB550-11C8-2AE4-4BE2-D0014DC98E68}"/>
              </a:ext>
            </a:extLst>
          </p:cNvPr>
          <p:cNvSpPr txBox="1"/>
          <p:nvPr/>
        </p:nvSpPr>
        <p:spPr>
          <a:xfrm>
            <a:off x="1415845" y="845574"/>
            <a:ext cx="7649497" cy="2308324"/>
          </a:xfrm>
          <a:prstGeom prst="rect">
            <a:avLst/>
          </a:prstGeom>
          <a:noFill/>
        </p:spPr>
        <p:txBody>
          <a:bodyPr wrap="square" rtlCol="0">
            <a:spAutoFit/>
          </a:bodyPr>
          <a:lstStyle/>
          <a:p>
            <a:r>
              <a:rPr lang="en-US" sz="2400" b="1" i="1" dirty="0">
                <a:effectLst>
                  <a:outerShdw blurRad="38100" dist="38100" dir="2700000" algn="tl">
                    <a:srgbClr val="000000">
                      <a:alpha val="43137"/>
                    </a:srgbClr>
                  </a:outerShdw>
                </a:effectLst>
              </a:rPr>
              <a:t>WHAT IS PYCAW?</a:t>
            </a:r>
          </a:p>
          <a:p>
            <a:endParaRPr lang="en-US" sz="2400" dirty="0"/>
          </a:p>
          <a:p>
            <a:r>
              <a:rPr lang="en-US" sz="2400" b="1" i="1" dirty="0" err="1">
                <a:solidFill>
                  <a:schemeClr val="bg1"/>
                </a:solidFill>
                <a:effectLst>
                  <a:outerShdw blurRad="38100" dist="38100" dir="2700000" algn="tl">
                    <a:srgbClr val="000000">
                      <a:alpha val="43137"/>
                    </a:srgbClr>
                  </a:outerShdw>
                </a:effectLst>
              </a:rPr>
              <a:t>Pycaw</a:t>
            </a:r>
            <a:r>
              <a:rPr lang="en-US" sz="2400" dirty="0">
                <a:solidFill>
                  <a:schemeClr val="bg1"/>
                </a:solidFill>
                <a:effectLst>
                  <a:outerShdw blurRad="38100" dist="38100" dir="2700000" algn="tl">
                    <a:srgbClr val="000000">
                      <a:alpha val="43137"/>
                    </a:srgbClr>
                  </a:outerShdw>
                </a:effectLst>
              </a:rPr>
              <a:t> (Python Core Audio Windows) is a </a:t>
            </a:r>
            <a:r>
              <a:rPr lang="en-US" sz="2400" dirty="0" err="1">
                <a:solidFill>
                  <a:schemeClr val="bg1"/>
                </a:solidFill>
                <a:effectLst>
                  <a:outerShdw blurRad="38100" dist="38100" dir="2700000" algn="tl">
                    <a:srgbClr val="000000">
                      <a:alpha val="43137"/>
                    </a:srgbClr>
                  </a:outerShdw>
                </a:effectLst>
              </a:rPr>
              <a:t>Pyrhon</a:t>
            </a:r>
            <a:r>
              <a:rPr lang="en-US" sz="2400" dirty="0">
                <a:solidFill>
                  <a:schemeClr val="bg1"/>
                </a:solidFill>
                <a:effectLst>
                  <a:outerShdw blurRad="38100" dist="38100" dir="2700000" algn="tl">
                    <a:srgbClr val="000000">
                      <a:alpha val="43137"/>
                    </a:srgbClr>
                  </a:outerShdw>
                </a:effectLst>
              </a:rPr>
              <a:t> wrapper around the Windows Core Audio APIs (specifically, the COM interfaces in mmdeviceapi.dll and </a:t>
            </a:r>
            <a:r>
              <a:rPr lang="en-US" sz="2400" dirty="0" err="1">
                <a:solidFill>
                  <a:schemeClr val="bg1"/>
                </a:solidFill>
                <a:effectLst>
                  <a:outerShdw blurRad="38100" dist="38100" dir="2700000" algn="tl">
                    <a:srgbClr val="000000">
                      <a:alpha val="43137"/>
                    </a:srgbClr>
                  </a:outerShdw>
                </a:effectLst>
              </a:rPr>
              <a:t>endpointvolume.h</a:t>
            </a:r>
            <a:r>
              <a:rPr lang="en-US" sz="2400" dirty="0">
                <a:solidFill>
                  <a:schemeClr val="bg1"/>
                </a:solidFill>
                <a:effectLst>
                  <a:outerShdw blurRad="38100" dist="38100" dir="2700000" algn="tl">
                    <a:srgbClr val="000000">
                      <a:alpha val="43137"/>
                    </a:srgbClr>
                  </a:outerShdw>
                </a:effectLst>
              </a:rPr>
              <a:t>).</a:t>
            </a:r>
          </a:p>
          <a:p>
            <a:endParaRPr lang="en-IN" sz="2400" dirty="0"/>
          </a:p>
        </p:txBody>
      </p:sp>
      <p:sp>
        <p:nvSpPr>
          <p:cNvPr id="3" name="TextBox 2">
            <a:extLst>
              <a:ext uri="{FF2B5EF4-FFF2-40B4-BE49-F238E27FC236}">
                <a16:creationId xmlns:a16="http://schemas.microsoft.com/office/drawing/2014/main" id="{AF90EFC9-718F-CEDF-E54D-AA5BA717269A}"/>
              </a:ext>
            </a:extLst>
          </p:cNvPr>
          <p:cNvSpPr txBox="1"/>
          <p:nvPr/>
        </p:nvSpPr>
        <p:spPr>
          <a:xfrm>
            <a:off x="1682409" y="3179931"/>
            <a:ext cx="7382933" cy="2246769"/>
          </a:xfrm>
          <a:prstGeom prst="rect">
            <a:avLst/>
          </a:prstGeom>
          <a:noFill/>
        </p:spPr>
        <p:txBody>
          <a:bodyPr wrap="square" rtlCol="0">
            <a:spAutoFit/>
          </a:bodyPr>
          <a:lstStyle/>
          <a:p>
            <a:r>
              <a:rPr lang="en-US" sz="2000" b="1" i="1" dirty="0">
                <a:effectLst>
                  <a:outerShdw blurRad="38100" dist="38100" dir="2700000" algn="tl">
                    <a:srgbClr val="000000">
                      <a:alpha val="43137"/>
                    </a:srgbClr>
                  </a:outerShdw>
                </a:effectLst>
              </a:rPr>
              <a:t>KEY CAPABILITIES :</a:t>
            </a:r>
          </a:p>
          <a:p>
            <a:pPr marL="285750" indent="-285750">
              <a:buFont typeface="Arial" panose="020B0604020202020204" pitchFamily="34" charset="0"/>
              <a:buChar char="•"/>
            </a:pPr>
            <a:r>
              <a:rPr lang="en-US" sz="2000" dirty="0">
                <a:solidFill>
                  <a:schemeClr val="bg1"/>
                </a:solidFill>
                <a:effectLst>
                  <a:outerShdw blurRad="38100" dist="38100" dir="2700000" algn="tl">
                    <a:srgbClr val="000000">
                      <a:alpha val="43137"/>
                    </a:srgbClr>
                  </a:outerShdw>
                </a:effectLst>
              </a:rPr>
              <a:t>Controls SYSTEM VOLUME (master endpoint control)</a:t>
            </a:r>
          </a:p>
          <a:p>
            <a:pPr marL="285750" indent="-285750">
              <a:buFont typeface="Arial" panose="020B0604020202020204" pitchFamily="34" charset="0"/>
              <a:buChar char="•"/>
            </a:pPr>
            <a:r>
              <a:rPr lang="en-US" sz="2000" dirty="0">
                <a:solidFill>
                  <a:schemeClr val="bg1"/>
                </a:solidFill>
                <a:effectLst>
                  <a:outerShdw blurRad="38100" dist="38100" dir="2700000" algn="tl">
                    <a:srgbClr val="000000">
                      <a:alpha val="43137"/>
                    </a:srgbClr>
                  </a:outerShdw>
                </a:effectLst>
              </a:rPr>
              <a:t>Manage MUTE STATE</a:t>
            </a:r>
          </a:p>
          <a:p>
            <a:pPr marL="285750" indent="-285750">
              <a:buFont typeface="Arial" panose="020B0604020202020204" pitchFamily="34" charset="0"/>
              <a:buChar char="•"/>
            </a:pPr>
            <a:r>
              <a:rPr lang="en-US" sz="2000" dirty="0">
                <a:solidFill>
                  <a:schemeClr val="bg1"/>
                </a:solidFill>
                <a:effectLst>
                  <a:outerShdw blurRad="38100" dist="38100" dir="2700000" algn="tl">
                    <a:srgbClr val="000000">
                      <a:alpha val="43137"/>
                    </a:srgbClr>
                  </a:outerShdw>
                </a:effectLst>
              </a:rPr>
              <a:t>Access PER-APPLICATION audio </a:t>
            </a:r>
            <a:r>
              <a:rPr lang="en-US" sz="2000" dirty="0" err="1">
                <a:solidFill>
                  <a:schemeClr val="bg1"/>
                </a:solidFill>
                <a:effectLst>
                  <a:outerShdw blurRad="38100" dist="38100" dir="2700000" algn="tl">
                    <a:srgbClr val="000000">
                      <a:alpha val="43137"/>
                    </a:srgbClr>
                  </a:outerShdw>
                </a:effectLst>
              </a:rPr>
              <a:t>leveld</a:t>
            </a:r>
            <a:endParaRPr lang="en-US" sz="2000" dirty="0">
              <a:solidFill>
                <a:schemeClr val="bg1"/>
              </a:solidFill>
              <a:effectLst>
                <a:outerShdw blurRad="38100" dist="38100" dir="2700000" algn="tl">
                  <a:srgbClr val="000000">
                    <a:alpha val="43137"/>
                  </a:srgbClr>
                </a:outerShdw>
              </a:effectLst>
            </a:endParaRPr>
          </a:p>
          <a:p>
            <a:pPr marL="285750" indent="-285750">
              <a:buFont typeface="Arial" panose="020B0604020202020204" pitchFamily="34" charset="0"/>
              <a:buChar char="•"/>
            </a:pPr>
            <a:r>
              <a:rPr lang="en-US" sz="2000" dirty="0">
                <a:solidFill>
                  <a:schemeClr val="bg1"/>
                </a:solidFill>
                <a:effectLst>
                  <a:outerShdw blurRad="38100" dist="38100" dir="2700000" algn="tl">
                    <a:srgbClr val="000000">
                      <a:alpha val="43137"/>
                    </a:srgbClr>
                  </a:outerShdw>
                </a:effectLst>
              </a:rPr>
              <a:t>Enumerates Audio Devices (SPEAKERS, HEADPHONES)</a:t>
            </a:r>
          </a:p>
          <a:p>
            <a:pPr marL="285750" indent="-285750">
              <a:buFont typeface="Arial" panose="020B0604020202020204" pitchFamily="34" charset="0"/>
              <a:buChar char="•"/>
            </a:pPr>
            <a:r>
              <a:rPr lang="en-US" sz="2000" dirty="0">
                <a:solidFill>
                  <a:schemeClr val="bg1"/>
                </a:solidFill>
                <a:effectLst>
                  <a:outerShdw blurRad="38100" dist="38100" dir="2700000" algn="tl">
                    <a:srgbClr val="000000">
                      <a:alpha val="43137"/>
                    </a:srgbClr>
                  </a:outerShdw>
                </a:effectLst>
              </a:rPr>
              <a:t>Monitor peak audio levels</a:t>
            </a:r>
          </a:p>
          <a:p>
            <a:pPr marL="285750" indent="-285750">
              <a:buFont typeface="Arial" panose="020B0604020202020204" pitchFamily="34" charset="0"/>
              <a:buChar char="•"/>
            </a:pPr>
            <a:endParaRPr lang="en-IN" sz="2000" dirty="0"/>
          </a:p>
        </p:txBody>
      </p:sp>
    </p:spTree>
    <p:extLst>
      <p:ext uri="{BB962C8B-B14F-4D97-AF65-F5344CB8AC3E}">
        <p14:creationId xmlns:p14="http://schemas.microsoft.com/office/powerpoint/2010/main" val="1756678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72B696-D04E-5D6F-D4B1-A6414AB9B638}"/>
              </a:ext>
            </a:extLst>
          </p:cNvPr>
          <p:cNvPicPr>
            <a:picLocks noChangeAspect="1"/>
          </p:cNvPicPr>
          <p:nvPr/>
        </p:nvPicPr>
        <p:blipFill>
          <a:blip r:embed="rId2"/>
          <a:stretch>
            <a:fillRect/>
          </a:stretch>
        </p:blipFill>
        <p:spPr>
          <a:xfrm>
            <a:off x="6096000" y="1868129"/>
            <a:ext cx="5569734" cy="4743738"/>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018D935E-0D66-744C-2DD6-D6286323E52C}"/>
              </a:ext>
            </a:extLst>
          </p:cNvPr>
          <p:cNvPicPr>
            <a:picLocks noChangeAspect="1"/>
          </p:cNvPicPr>
          <p:nvPr/>
        </p:nvPicPr>
        <p:blipFill>
          <a:blip r:embed="rId3"/>
          <a:stretch>
            <a:fillRect/>
          </a:stretch>
        </p:blipFill>
        <p:spPr>
          <a:xfrm>
            <a:off x="654085" y="835096"/>
            <a:ext cx="5697553" cy="4841414"/>
          </a:xfrm>
          <a:prstGeom prst="rect">
            <a:avLst/>
          </a:prstGeom>
        </p:spPr>
      </p:pic>
      <p:sp>
        <p:nvSpPr>
          <p:cNvPr id="6" name="TextBox 5">
            <a:extLst>
              <a:ext uri="{FF2B5EF4-FFF2-40B4-BE49-F238E27FC236}">
                <a16:creationId xmlns:a16="http://schemas.microsoft.com/office/drawing/2014/main" id="{5DEE2817-6F7A-FD75-4EC5-B75436DF492D}"/>
              </a:ext>
            </a:extLst>
          </p:cNvPr>
          <p:cNvSpPr txBox="1"/>
          <p:nvPr/>
        </p:nvSpPr>
        <p:spPr>
          <a:xfrm>
            <a:off x="2163097" y="167147"/>
            <a:ext cx="7089058" cy="400110"/>
          </a:xfrm>
          <a:prstGeom prst="rect">
            <a:avLst/>
          </a:prstGeom>
          <a:noFill/>
        </p:spPr>
        <p:txBody>
          <a:bodyPr wrap="square" rtlCol="0">
            <a:spAutoFit/>
          </a:bodyPr>
          <a:lstStyle/>
          <a:p>
            <a:pPr algn="ctr"/>
            <a:r>
              <a:rPr lang="en-US" sz="2000" b="1" i="1" dirty="0">
                <a:solidFill>
                  <a:schemeClr val="bg1"/>
                </a:solidFill>
                <a:effectLst>
                  <a:outerShdw blurRad="38100" dist="38100" dir="2700000" algn="tl">
                    <a:srgbClr val="000000">
                      <a:alpha val="43137"/>
                    </a:srgbClr>
                  </a:outerShdw>
                </a:effectLst>
              </a:rPr>
              <a:t>PROJECT CODE :</a:t>
            </a:r>
            <a:endParaRPr lang="en-IN" sz="2000" b="1" i="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25984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265A7A-2E8B-2941-8E94-D4AD8A92FF3D}"/>
              </a:ext>
            </a:extLst>
          </p:cNvPr>
          <p:cNvSpPr txBox="1"/>
          <p:nvPr/>
        </p:nvSpPr>
        <p:spPr>
          <a:xfrm>
            <a:off x="1131712" y="1243786"/>
            <a:ext cx="10394244" cy="4370427"/>
          </a:xfrm>
          <a:prstGeom prst="rect">
            <a:avLst/>
          </a:prstGeom>
          <a:noFill/>
        </p:spPr>
        <p:txBody>
          <a:bodyPr wrap="square">
            <a:spAutoFit/>
          </a:bodyPr>
          <a:lstStyle/>
          <a:p>
            <a:pPr>
              <a:buNone/>
            </a:pPr>
            <a:r>
              <a:rPr lang="en-US" sz="2000" b="1" i="1" dirty="0">
                <a:effectLst>
                  <a:outerShdw blurRad="38100" dist="38100" dir="2700000" algn="tl">
                    <a:srgbClr val="000000">
                      <a:alpha val="43137"/>
                    </a:srgbClr>
                  </a:outerShdw>
                </a:effectLst>
              </a:rPr>
              <a:t>1. ACCESSING THE DEFAULT AUDIO DEVICE</a:t>
            </a:r>
          </a:p>
          <a:p>
            <a:pPr>
              <a:buNone/>
            </a:pPr>
            <a:endParaRPr lang="en-US" sz="2000" b="1" u="sng" dirty="0"/>
          </a:p>
          <a:p>
            <a:r>
              <a:rPr lang="en-US" sz="2000" b="1" u="sng" dirty="0"/>
              <a:t>1.1 The Challenge of Windows Audio</a:t>
            </a:r>
          </a:p>
          <a:p>
            <a:r>
              <a:rPr lang="en-US" sz="2000" dirty="0">
                <a:solidFill>
                  <a:schemeClr val="bg1"/>
                </a:solidFill>
                <a:effectLst>
                  <a:outerShdw blurRad="38100" dist="38100" dir="2700000" algn="tl">
                    <a:srgbClr val="000000">
                      <a:alpha val="43137"/>
                    </a:srgbClr>
                  </a:outerShdw>
                </a:effectLst>
              </a:rPr>
              <a:t>Windows handles audio through the </a:t>
            </a:r>
            <a:r>
              <a:rPr lang="en-US" sz="2000" b="1" dirty="0">
                <a:solidFill>
                  <a:schemeClr val="bg1"/>
                </a:solidFill>
                <a:effectLst>
                  <a:outerShdw blurRad="38100" dist="38100" dir="2700000" algn="tl">
                    <a:srgbClr val="000000">
                      <a:alpha val="43137"/>
                    </a:srgbClr>
                  </a:outerShdw>
                </a:effectLst>
              </a:rPr>
              <a:t>Core Audio APIs</a:t>
            </a:r>
            <a:r>
              <a:rPr lang="en-US" sz="2000" dirty="0">
                <a:solidFill>
                  <a:schemeClr val="bg1"/>
                </a:solidFill>
                <a:effectLst>
                  <a:outerShdw blurRad="38100" dist="38100" dir="2700000" algn="tl">
                    <a:srgbClr val="000000">
                      <a:alpha val="43137"/>
                    </a:srgbClr>
                  </a:outerShdw>
                </a:effectLst>
              </a:rPr>
              <a:t>. Unlike simple file input/output, audio devices are dynamic endpoints managed by the operating system. To interact with them programmatically, we cannot simply "open" a file; we must interface with the Component Object Model (COM).</a:t>
            </a:r>
          </a:p>
          <a:p>
            <a:pPr>
              <a:buNone/>
            </a:pPr>
            <a:endParaRPr lang="en-US" sz="2000" b="1" dirty="0"/>
          </a:p>
          <a:p>
            <a:r>
              <a:rPr lang="en-US" sz="2000" b="1" u="sng" dirty="0"/>
              <a:t>1.2 </a:t>
            </a:r>
            <a:r>
              <a:rPr lang="en-IN" sz="2000" b="1" u="sng" dirty="0"/>
              <a:t>The Role of </a:t>
            </a:r>
            <a:r>
              <a:rPr lang="en-IN" sz="2000" b="1" u="sng" dirty="0" err="1"/>
              <a:t>CoInitialize</a:t>
            </a:r>
            <a:endParaRPr lang="en-IN" sz="2000" b="1" u="sng" dirty="0"/>
          </a:p>
          <a:p>
            <a:r>
              <a:rPr lang="en-US" sz="2000" dirty="0">
                <a:solidFill>
                  <a:schemeClr val="bg1"/>
                </a:solidFill>
                <a:effectLst>
                  <a:outerShdw blurRad="38100" dist="38100" dir="2700000" algn="tl">
                    <a:srgbClr val="000000">
                      <a:alpha val="43137"/>
                    </a:srgbClr>
                  </a:outerShdw>
                </a:effectLst>
              </a:rPr>
              <a:t>         </a:t>
            </a:r>
            <a:r>
              <a:rPr lang="en-US" sz="2000" dirty="0">
                <a:solidFill>
                  <a:schemeClr val="bg1"/>
                </a:solidFill>
                <a:effectLst>
                  <a:outerShdw blurRad="38100" dist="38100" dir="2700000" algn="tl">
                    <a:srgbClr val="000000">
                      <a:alpha val="43137"/>
                    </a:srgbClr>
                  </a:outerShdw>
                </a:effectLst>
                <a:sym typeface="Wingdings" panose="05000000000000000000" pitchFamily="2" charset="2"/>
              </a:rPr>
              <a:t> </a:t>
            </a:r>
            <a:r>
              <a:rPr lang="en-US" sz="2000" dirty="0" err="1">
                <a:solidFill>
                  <a:schemeClr val="bg1"/>
                </a:solidFill>
                <a:effectLst>
                  <a:outerShdw blurRad="38100" dist="38100" dir="2700000" algn="tl">
                    <a:srgbClr val="000000">
                      <a:alpha val="43137"/>
                    </a:srgbClr>
                  </a:outerShdw>
                </a:effectLst>
              </a:rPr>
              <a:t>CoInitialize</a:t>
            </a:r>
            <a:r>
              <a:rPr lang="en-US" sz="2000" dirty="0">
                <a:solidFill>
                  <a:schemeClr val="bg1"/>
                </a:solidFill>
                <a:effectLst>
                  <a:outerShdw blurRad="38100" dist="38100" dir="2700000" algn="tl">
                    <a:srgbClr val="000000">
                      <a:alpha val="43137"/>
                    </a:srgbClr>
                  </a:outerShdw>
                </a:effectLst>
              </a:rPr>
              <a:t>()</a:t>
            </a:r>
          </a:p>
          <a:p>
            <a:r>
              <a:rPr lang="en-US" sz="2000" dirty="0">
                <a:solidFill>
                  <a:schemeClr val="bg1"/>
                </a:solidFill>
                <a:effectLst>
                  <a:outerShdw blurRad="38100" dist="38100" dir="2700000" algn="tl">
                    <a:srgbClr val="000000">
                      <a:alpha val="43137"/>
                    </a:srgbClr>
                  </a:outerShdw>
                </a:effectLst>
              </a:rPr>
              <a:t>This is critical. The Windows COM library must be initialized on the current thread before you can create any COM objects. If you omit this, especially in threaded environments or specific IDEs (like </a:t>
            </a:r>
            <a:r>
              <a:rPr lang="en-US" sz="2000" dirty="0" err="1">
                <a:solidFill>
                  <a:schemeClr val="bg1"/>
                </a:solidFill>
                <a:effectLst>
                  <a:outerShdw blurRad="38100" dist="38100" dir="2700000" algn="tl">
                    <a:srgbClr val="000000">
                      <a:alpha val="43137"/>
                    </a:srgbClr>
                  </a:outerShdw>
                </a:effectLst>
              </a:rPr>
              <a:t>Jupyter</a:t>
            </a:r>
            <a:r>
              <a:rPr lang="en-US" sz="2000" dirty="0">
                <a:solidFill>
                  <a:schemeClr val="bg1"/>
                </a:solidFill>
                <a:effectLst>
                  <a:outerShdw blurRad="38100" dist="38100" dir="2700000" algn="tl">
                    <a:srgbClr val="000000">
                      <a:alpha val="43137"/>
                    </a:srgbClr>
                  </a:outerShdw>
                </a:effectLst>
              </a:rPr>
              <a:t>), the script will crash with a generic COM error.</a:t>
            </a:r>
          </a:p>
          <a:p>
            <a:endParaRPr lang="en-US" sz="2000" dirty="0"/>
          </a:p>
          <a:p>
            <a:pPr>
              <a:buNone/>
            </a:pPr>
            <a:endParaRPr lang="en-US" sz="2000" b="1" dirty="0"/>
          </a:p>
        </p:txBody>
      </p:sp>
    </p:spTree>
    <p:extLst>
      <p:ext uri="{BB962C8B-B14F-4D97-AF65-F5344CB8AC3E}">
        <p14:creationId xmlns:p14="http://schemas.microsoft.com/office/powerpoint/2010/main" val="2417799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D1F529-BE46-5432-C8FC-CA7AD540D5CE}"/>
              </a:ext>
            </a:extLst>
          </p:cNvPr>
          <p:cNvSpPr txBox="1"/>
          <p:nvPr/>
        </p:nvSpPr>
        <p:spPr>
          <a:xfrm>
            <a:off x="959555" y="891541"/>
            <a:ext cx="10442222" cy="3477875"/>
          </a:xfrm>
          <a:prstGeom prst="rect">
            <a:avLst/>
          </a:prstGeom>
          <a:noFill/>
        </p:spPr>
        <p:txBody>
          <a:bodyPr wrap="square">
            <a:spAutoFit/>
          </a:bodyPr>
          <a:lstStyle/>
          <a:p>
            <a:r>
              <a:rPr lang="en-US" sz="2000" b="1" dirty="0"/>
              <a:t> </a:t>
            </a:r>
            <a:r>
              <a:rPr lang="en-US" sz="2000" b="1" u="sng" dirty="0"/>
              <a:t>1.3 Selecting the Microphone</a:t>
            </a:r>
          </a:p>
          <a:p>
            <a:r>
              <a:rPr lang="en-US" sz="2000" dirty="0">
                <a:solidFill>
                  <a:schemeClr val="bg1"/>
                </a:solidFill>
              </a:rPr>
              <a:t>This is the specific line where we differentiate between Speakers and Microphones:</a:t>
            </a:r>
          </a:p>
          <a:p>
            <a:r>
              <a:rPr lang="en-US" sz="2000" dirty="0" err="1"/>
              <a:t>eCapture</a:t>
            </a:r>
            <a:r>
              <a:rPr lang="en-US" sz="2000" dirty="0"/>
              <a:t> = 1  </a:t>
            </a:r>
            <a:r>
              <a:rPr lang="en-US" sz="2000" dirty="0">
                <a:solidFill>
                  <a:schemeClr val="bg1"/>
                </a:solidFill>
              </a:rPr>
              <a:t># Constant for Microphone/Input</a:t>
            </a:r>
          </a:p>
          <a:p>
            <a:r>
              <a:rPr lang="en-US" sz="2000" dirty="0" err="1"/>
              <a:t>eConsole</a:t>
            </a:r>
            <a:r>
              <a:rPr lang="en-US" sz="2000" dirty="0"/>
              <a:t> = 0  </a:t>
            </a:r>
            <a:r>
              <a:rPr lang="en-US" sz="2000" dirty="0">
                <a:solidFill>
                  <a:schemeClr val="bg1"/>
                </a:solidFill>
              </a:rPr>
              <a:t># Constant for System Notification/Console role</a:t>
            </a:r>
          </a:p>
          <a:p>
            <a:endParaRPr lang="en-US" sz="2000" dirty="0"/>
          </a:p>
          <a:p>
            <a:r>
              <a:rPr lang="en-US" sz="2000" dirty="0"/>
              <a:t># </a:t>
            </a:r>
            <a:r>
              <a:rPr lang="en-US" sz="2000" dirty="0" err="1"/>
              <a:t>GetDefaultAudioEndpoint</a:t>
            </a:r>
            <a:r>
              <a:rPr lang="en-US" sz="2000" dirty="0"/>
              <a:t>(</a:t>
            </a:r>
            <a:r>
              <a:rPr lang="en-US" sz="2000" dirty="0" err="1"/>
              <a:t>data_flow</a:t>
            </a:r>
            <a:r>
              <a:rPr lang="en-US" sz="2000" dirty="0"/>
              <a:t>, role)</a:t>
            </a:r>
          </a:p>
          <a:p>
            <a:r>
              <a:rPr lang="en-US" sz="2000" dirty="0"/>
              <a:t>device = </a:t>
            </a:r>
            <a:r>
              <a:rPr lang="en-US" sz="2000" dirty="0" err="1"/>
              <a:t>device_enumerator.GetDefaultAudioEndpoint</a:t>
            </a:r>
            <a:r>
              <a:rPr lang="en-US" sz="2000" dirty="0"/>
              <a:t>(</a:t>
            </a:r>
            <a:r>
              <a:rPr lang="en-US" sz="2000" dirty="0" err="1"/>
              <a:t>eCapture</a:t>
            </a:r>
            <a:r>
              <a:rPr lang="en-US" sz="2000" dirty="0"/>
              <a:t>, </a:t>
            </a:r>
            <a:r>
              <a:rPr lang="en-US" sz="2000" dirty="0" err="1"/>
              <a:t>eConsole</a:t>
            </a:r>
            <a:r>
              <a:rPr lang="en-US" sz="2000" dirty="0"/>
              <a:t>)</a:t>
            </a:r>
          </a:p>
          <a:p>
            <a:r>
              <a:rPr lang="en-US" sz="2000" b="1" dirty="0" err="1"/>
              <a:t>eCapture</a:t>
            </a:r>
            <a:r>
              <a:rPr lang="en-US" sz="2000" b="1" dirty="0"/>
              <a:t> (1)</a:t>
            </a:r>
            <a:r>
              <a:rPr lang="en-US" sz="2000" dirty="0"/>
              <a:t>: </a:t>
            </a:r>
            <a:r>
              <a:rPr lang="en-US" sz="2000" dirty="0">
                <a:solidFill>
                  <a:schemeClr val="bg1"/>
                </a:solidFill>
              </a:rPr>
              <a:t>Specifies that we want an audio </a:t>
            </a:r>
            <a:r>
              <a:rPr lang="en-US" sz="2000" b="1" dirty="0">
                <a:solidFill>
                  <a:schemeClr val="bg1"/>
                </a:solidFill>
              </a:rPr>
              <a:t>capture</a:t>
            </a:r>
            <a:r>
              <a:rPr lang="en-US" sz="2000" dirty="0">
                <a:solidFill>
                  <a:schemeClr val="bg1"/>
                </a:solidFill>
              </a:rPr>
              <a:t> device (Microphone). If this were </a:t>
            </a:r>
            <a:r>
              <a:rPr lang="en-US" sz="2000" dirty="0" err="1">
                <a:solidFill>
                  <a:schemeClr val="bg1"/>
                </a:solidFill>
              </a:rPr>
              <a:t>eRender</a:t>
            </a:r>
            <a:r>
              <a:rPr lang="en-US" sz="2000" dirty="0">
                <a:solidFill>
                  <a:schemeClr val="bg1"/>
                </a:solidFill>
              </a:rPr>
              <a:t> (0), we would get the Speakers</a:t>
            </a:r>
            <a:r>
              <a:rPr lang="en-US" sz="2000" dirty="0"/>
              <a:t>.</a:t>
            </a:r>
          </a:p>
          <a:p>
            <a:r>
              <a:rPr lang="en-US" sz="2000" b="1" dirty="0" err="1"/>
              <a:t>eConsole</a:t>
            </a:r>
            <a:r>
              <a:rPr lang="en-US" sz="2000" b="1" dirty="0"/>
              <a:t> (0)</a:t>
            </a:r>
            <a:r>
              <a:rPr lang="en-US" sz="2000" dirty="0"/>
              <a:t>: </a:t>
            </a:r>
            <a:r>
              <a:rPr lang="en-US" sz="2000" dirty="0">
                <a:solidFill>
                  <a:schemeClr val="bg1"/>
                </a:solidFill>
              </a:rPr>
              <a:t>Specifies the role. "Console" usually refers to the default device used by system interactions and games.</a:t>
            </a:r>
          </a:p>
        </p:txBody>
      </p:sp>
    </p:spTree>
    <p:extLst>
      <p:ext uri="{BB962C8B-B14F-4D97-AF65-F5344CB8AC3E}">
        <p14:creationId xmlns:p14="http://schemas.microsoft.com/office/powerpoint/2010/main" val="2174421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642B6B-85F1-A95D-DE0D-463C86E44177}"/>
              </a:ext>
            </a:extLst>
          </p:cNvPr>
          <p:cNvSpPr txBox="1"/>
          <p:nvPr/>
        </p:nvSpPr>
        <p:spPr>
          <a:xfrm>
            <a:off x="1063978" y="718445"/>
            <a:ext cx="6101644" cy="400110"/>
          </a:xfrm>
          <a:prstGeom prst="rect">
            <a:avLst/>
          </a:prstGeom>
          <a:noFill/>
        </p:spPr>
        <p:txBody>
          <a:bodyPr wrap="square">
            <a:spAutoFit/>
          </a:bodyPr>
          <a:lstStyle/>
          <a:p>
            <a:pPr>
              <a:buNone/>
            </a:pPr>
            <a:r>
              <a:rPr lang="en-IN" sz="2000" b="1" i="1" dirty="0">
                <a:effectLst>
                  <a:outerShdw blurRad="38100" dist="38100" dir="2700000" algn="tl">
                    <a:srgbClr val="000000">
                      <a:alpha val="43137"/>
                    </a:srgbClr>
                  </a:outerShdw>
                </a:effectLst>
              </a:rPr>
              <a:t>2. GETTING THE AUDIO INTERFACE</a:t>
            </a:r>
          </a:p>
        </p:txBody>
      </p:sp>
      <p:sp>
        <p:nvSpPr>
          <p:cNvPr id="5" name="TextBox 4">
            <a:extLst>
              <a:ext uri="{FF2B5EF4-FFF2-40B4-BE49-F238E27FC236}">
                <a16:creationId xmlns:a16="http://schemas.microsoft.com/office/drawing/2014/main" id="{AC66CC5E-AE48-92B2-4F3B-F2908E5EBC7C}"/>
              </a:ext>
            </a:extLst>
          </p:cNvPr>
          <p:cNvSpPr txBox="1"/>
          <p:nvPr/>
        </p:nvSpPr>
        <p:spPr>
          <a:xfrm>
            <a:off x="1063978" y="1339333"/>
            <a:ext cx="10473266" cy="5016758"/>
          </a:xfrm>
          <a:prstGeom prst="rect">
            <a:avLst/>
          </a:prstGeom>
          <a:noFill/>
        </p:spPr>
        <p:txBody>
          <a:bodyPr wrap="square">
            <a:spAutoFit/>
          </a:bodyPr>
          <a:lstStyle/>
          <a:p>
            <a:pPr>
              <a:buNone/>
            </a:pPr>
            <a:r>
              <a:rPr lang="en-US" sz="2000" b="1" u="sng" dirty="0"/>
              <a:t>2.1 Beyond the Device Object</a:t>
            </a:r>
          </a:p>
          <a:p>
            <a:r>
              <a:rPr lang="en-US" sz="2000" dirty="0">
                <a:solidFill>
                  <a:schemeClr val="bg1"/>
                </a:solidFill>
              </a:rPr>
              <a:t>we obtained a device object. However, this object represents the hardware </a:t>
            </a:r>
            <a:r>
              <a:rPr lang="en-US" sz="2000" i="1" dirty="0">
                <a:solidFill>
                  <a:schemeClr val="bg1"/>
                </a:solidFill>
              </a:rPr>
              <a:t>endpoint</a:t>
            </a:r>
            <a:r>
              <a:rPr lang="en-US" sz="2000" dirty="0">
                <a:solidFill>
                  <a:schemeClr val="bg1"/>
                </a:solidFill>
              </a:rPr>
              <a:t> (e.g., "Logitech Headset"). It doesn't yet have buttons to turn the volume up or down. To get those controls, we need to "Activate" a specific interface on that device.</a:t>
            </a:r>
          </a:p>
          <a:p>
            <a:endParaRPr lang="en-US" sz="2000" dirty="0"/>
          </a:p>
          <a:p>
            <a:r>
              <a:rPr lang="en-US" sz="2000" b="1" u="sng" dirty="0"/>
              <a:t>2.2 The Activation Call</a:t>
            </a:r>
          </a:p>
          <a:p>
            <a:r>
              <a:rPr lang="en-US" sz="2000" dirty="0"/>
              <a:t>interface = </a:t>
            </a:r>
            <a:r>
              <a:rPr lang="en-US" sz="2000" dirty="0" err="1"/>
              <a:t>device.Activate</a:t>
            </a:r>
            <a:r>
              <a:rPr lang="en-US" sz="2000" dirty="0"/>
              <a:t>(</a:t>
            </a:r>
          </a:p>
          <a:p>
            <a:r>
              <a:rPr lang="en-US" sz="2000" dirty="0"/>
              <a:t>    </a:t>
            </a:r>
            <a:r>
              <a:rPr lang="en-US" sz="2000" dirty="0" err="1"/>
              <a:t>IAudioEndpointVolume</a:t>
            </a:r>
            <a:r>
              <a:rPr lang="en-US" sz="2000" dirty="0"/>
              <a:t>._</a:t>
            </a:r>
            <a:r>
              <a:rPr lang="en-US" sz="2000" dirty="0" err="1"/>
              <a:t>iid</a:t>
            </a:r>
            <a:r>
              <a:rPr lang="en-US" sz="2000" dirty="0"/>
              <a:t>_, </a:t>
            </a:r>
          </a:p>
          <a:p>
            <a:r>
              <a:rPr lang="en-US" sz="2000" dirty="0"/>
              <a:t>    CLSCTX_ALL, </a:t>
            </a:r>
          </a:p>
          <a:p>
            <a:r>
              <a:rPr lang="en-US" sz="2000" dirty="0"/>
              <a:t>    None</a:t>
            </a:r>
          </a:p>
          <a:p>
            <a:r>
              <a:rPr lang="en-US" sz="2000" dirty="0"/>
              <a:t>)</a:t>
            </a:r>
          </a:p>
          <a:p>
            <a:r>
              <a:rPr lang="en-US" sz="2000" b="1" dirty="0" err="1"/>
              <a:t>device.Activate</a:t>
            </a:r>
            <a:r>
              <a:rPr lang="en-US" sz="2000" dirty="0"/>
              <a:t>: </a:t>
            </a:r>
            <a:r>
              <a:rPr lang="en-US" sz="2000" dirty="0">
                <a:solidFill>
                  <a:schemeClr val="bg1"/>
                </a:solidFill>
              </a:rPr>
              <a:t>This method asks the device to create a specific control interface.</a:t>
            </a:r>
          </a:p>
          <a:p>
            <a:r>
              <a:rPr lang="en-US" sz="2000" b="1" dirty="0" err="1"/>
              <a:t>IAudioEndpointVolume</a:t>
            </a:r>
            <a:r>
              <a:rPr lang="en-US" sz="2000" b="1" dirty="0"/>
              <a:t>._</a:t>
            </a:r>
            <a:r>
              <a:rPr lang="en-US" sz="2000" b="1" dirty="0" err="1"/>
              <a:t>iid</a:t>
            </a:r>
            <a:r>
              <a:rPr lang="en-US" sz="2000" b="1" dirty="0"/>
              <a:t>_</a:t>
            </a:r>
            <a:r>
              <a:rPr lang="en-US" sz="2000" dirty="0"/>
              <a:t>: </a:t>
            </a:r>
            <a:r>
              <a:rPr lang="en-US" sz="2000" dirty="0">
                <a:solidFill>
                  <a:schemeClr val="bg1"/>
                </a:solidFill>
              </a:rPr>
              <a:t>We pass the Interface ID (IID) of the volume controller. We are essentially saying, "Give me the control panel (interface) specifically for Volume."</a:t>
            </a:r>
          </a:p>
          <a:p>
            <a:endParaRPr lang="en-US" sz="2000" dirty="0">
              <a:solidFill>
                <a:schemeClr val="bg1"/>
              </a:solidFill>
            </a:endParaRPr>
          </a:p>
          <a:p>
            <a:pPr>
              <a:buNone/>
            </a:pPr>
            <a:endParaRPr lang="en-US" sz="2000" b="1" dirty="0"/>
          </a:p>
        </p:txBody>
      </p:sp>
    </p:spTree>
    <p:extLst>
      <p:ext uri="{BB962C8B-B14F-4D97-AF65-F5344CB8AC3E}">
        <p14:creationId xmlns:p14="http://schemas.microsoft.com/office/powerpoint/2010/main" val="3025642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BE5AE4-39C2-C566-0266-36F3247A320A}"/>
              </a:ext>
            </a:extLst>
          </p:cNvPr>
          <p:cNvSpPr txBox="1"/>
          <p:nvPr/>
        </p:nvSpPr>
        <p:spPr>
          <a:xfrm>
            <a:off x="1176865" y="458956"/>
            <a:ext cx="10541002" cy="5940088"/>
          </a:xfrm>
          <a:prstGeom prst="rect">
            <a:avLst/>
          </a:prstGeom>
          <a:noFill/>
        </p:spPr>
        <p:txBody>
          <a:bodyPr wrap="square">
            <a:spAutoFit/>
          </a:bodyPr>
          <a:lstStyle/>
          <a:p>
            <a:pPr>
              <a:buNone/>
            </a:pPr>
            <a:r>
              <a:rPr lang="en-US" sz="2000" b="1" i="1" dirty="0">
                <a:effectLst>
                  <a:outerShdw blurRad="38100" dist="38100" dir="2700000" algn="tl">
                    <a:srgbClr val="000000">
                      <a:alpha val="43137"/>
                    </a:srgbClr>
                  </a:outerShdw>
                </a:effectLst>
              </a:rPr>
              <a:t>3. CONTROLLING THE VOLUME (COM Logic)</a:t>
            </a:r>
          </a:p>
          <a:p>
            <a:pPr>
              <a:buNone/>
            </a:pPr>
            <a:endParaRPr lang="en-US" sz="2000" b="1" dirty="0"/>
          </a:p>
          <a:p>
            <a:pPr>
              <a:buNone/>
            </a:pPr>
            <a:r>
              <a:rPr lang="en-US" sz="2000" b="1" u="sng" dirty="0"/>
              <a:t>3.1 The Coordinate System: Scalar vs. Decibels</a:t>
            </a:r>
          </a:p>
          <a:p>
            <a:pPr>
              <a:buNone/>
            </a:pPr>
            <a:r>
              <a:rPr lang="en-US" sz="2000" dirty="0">
                <a:solidFill>
                  <a:schemeClr val="bg1"/>
                </a:solidFill>
              </a:rPr>
              <a:t>Windows Volume Control offers two ways to set volume:</a:t>
            </a:r>
          </a:p>
          <a:p>
            <a:pPr>
              <a:buFont typeface="+mj-lt"/>
              <a:buAutoNum type="arabicPeriod"/>
            </a:pPr>
            <a:r>
              <a:rPr lang="en-US" sz="2000" b="1" dirty="0"/>
              <a:t>Decibels (dB):</a:t>
            </a:r>
            <a:r>
              <a:rPr lang="en-US" sz="2000" dirty="0"/>
              <a:t> </a:t>
            </a:r>
            <a:r>
              <a:rPr lang="en-US" sz="2000" dirty="0">
                <a:solidFill>
                  <a:schemeClr val="bg1"/>
                </a:solidFill>
              </a:rPr>
              <a:t>Accurate to physical sound pressure, but non-linear and hard to map to a 0-100 slider.</a:t>
            </a:r>
          </a:p>
          <a:p>
            <a:pPr>
              <a:buFont typeface="+mj-lt"/>
              <a:buAutoNum type="arabicPeriod"/>
            </a:pPr>
            <a:r>
              <a:rPr lang="en-US" sz="2000" b="1" dirty="0"/>
              <a:t>Scalar (0.0 to 1.0):</a:t>
            </a:r>
            <a:r>
              <a:rPr lang="en-US" sz="2000" dirty="0">
                <a:solidFill>
                  <a:schemeClr val="bg1"/>
                </a:solidFill>
              </a:rPr>
              <a:t> A linear representation where 0.0 is silence and 1.0 is max.</a:t>
            </a:r>
          </a:p>
          <a:p>
            <a:pPr>
              <a:buNone/>
            </a:pPr>
            <a:r>
              <a:rPr lang="en-US" sz="2000" dirty="0">
                <a:solidFill>
                  <a:schemeClr val="bg1"/>
                </a:solidFill>
              </a:rPr>
              <a:t>Your code uses the </a:t>
            </a:r>
            <a:r>
              <a:rPr lang="en-US" sz="2000" b="1" dirty="0">
                <a:solidFill>
                  <a:schemeClr val="bg1"/>
                </a:solidFill>
              </a:rPr>
              <a:t>Scalar</a:t>
            </a:r>
            <a:r>
              <a:rPr lang="en-US" sz="2000" dirty="0">
                <a:solidFill>
                  <a:schemeClr val="bg1"/>
                </a:solidFill>
              </a:rPr>
              <a:t> method, which is perfect for UI Sliders.</a:t>
            </a:r>
          </a:p>
          <a:p>
            <a:pPr>
              <a:buNone/>
            </a:pPr>
            <a:endParaRPr lang="en-US" sz="2000" dirty="0"/>
          </a:p>
          <a:p>
            <a:r>
              <a:rPr lang="en-US" sz="2000" b="1" u="sng" dirty="0"/>
              <a:t>3.2 Reading Volume (</a:t>
            </a:r>
            <a:r>
              <a:rPr lang="en-US" sz="2000" b="1" u="sng" dirty="0" err="1"/>
              <a:t>GetMasterVolumeLevelScalar</a:t>
            </a:r>
            <a:r>
              <a:rPr lang="en-US" sz="2000" b="1" u="sng" dirty="0"/>
              <a:t>)</a:t>
            </a:r>
          </a:p>
          <a:p>
            <a:r>
              <a:rPr lang="en-US" sz="2000" dirty="0"/>
              <a:t>def </a:t>
            </a:r>
            <a:r>
              <a:rPr lang="en-US" sz="2000" dirty="0" err="1"/>
              <a:t>get_current_volume_percent</a:t>
            </a:r>
            <a:r>
              <a:rPr lang="en-US" sz="2000" dirty="0"/>
              <a:t>():</a:t>
            </a:r>
          </a:p>
          <a:p>
            <a:r>
              <a:rPr lang="en-US" sz="2000" dirty="0"/>
              <a:t>    # Returns float 0.0 - 1.0</a:t>
            </a:r>
          </a:p>
          <a:p>
            <a:r>
              <a:rPr lang="en-US" sz="2000" dirty="0"/>
              <a:t>    </a:t>
            </a:r>
            <a:r>
              <a:rPr lang="en-US" sz="2000" dirty="0" err="1"/>
              <a:t>vol_float</a:t>
            </a:r>
            <a:r>
              <a:rPr lang="en-US" sz="2000" dirty="0"/>
              <a:t> = </a:t>
            </a:r>
            <a:r>
              <a:rPr lang="en-US" sz="2000" dirty="0" err="1"/>
              <a:t>volume.GetMasterVolumeLevelScalar</a:t>
            </a:r>
            <a:r>
              <a:rPr lang="en-US" sz="2000" dirty="0"/>
              <a:t>()</a:t>
            </a:r>
          </a:p>
          <a:p>
            <a:r>
              <a:rPr lang="en-US" sz="2000" dirty="0"/>
              <a:t>    # Convert to 0-100 integer for </a:t>
            </a:r>
            <a:r>
              <a:rPr lang="en-US" sz="2000" dirty="0" err="1"/>
              <a:t>Tkinter</a:t>
            </a:r>
            <a:endParaRPr lang="en-US" sz="2000" dirty="0"/>
          </a:p>
          <a:p>
            <a:r>
              <a:rPr lang="en-US" sz="2000" dirty="0"/>
              <a:t>    return int(round(</a:t>
            </a:r>
            <a:r>
              <a:rPr lang="en-US" sz="2000" dirty="0" err="1"/>
              <a:t>vol_float</a:t>
            </a:r>
            <a:r>
              <a:rPr lang="en-US" sz="2000" dirty="0"/>
              <a:t> * 100.0))</a:t>
            </a:r>
          </a:p>
          <a:p>
            <a:r>
              <a:rPr lang="en-US" sz="2000" dirty="0">
                <a:solidFill>
                  <a:schemeClr val="bg1"/>
                </a:solidFill>
              </a:rPr>
              <a:t>This function queries the hardware. If you change the volume using the physical wheel on your headset, Windows updates the COM object. Your </a:t>
            </a:r>
            <a:r>
              <a:rPr lang="en-US" sz="2000" dirty="0" err="1">
                <a:solidFill>
                  <a:schemeClr val="bg1"/>
                </a:solidFill>
              </a:rPr>
              <a:t>poll_volume</a:t>
            </a:r>
            <a:r>
              <a:rPr lang="en-US" sz="2000" dirty="0">
                <a:solidFill>
                  <a:schemeClr val="bg1"/>
                </a:solidFill>
              </a:rPr>
              <a:t> function reads this, ensuring the UI stays in sync with reality.</a:t>
            </a:r>
          </a:p>
          <a:p>
            <a:pPr>
              <a:buNone/>
            </a:pPr>
            <a:endParaRPr lang="en-US" sz="2000" dirty="0"/>
          </a:p>
        </p:txBody>
      </p:sp>
    </p:spTree>
    <p:extLst>
      <p:ext uri="{BB962C8B-B14F-4D97-AF65-F5344CB8AC3E}">
        <p14:creationId xmlns:p14="http://schemas.microsoft.com/office/powerpoint/2010/main" val="1239503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B0608D-7425-AF91-B58E-419ABA305B39}"/>
              </a:ext>
            </a:extLst>
          </p:cNvPr>
          <p:cNvSpPr txBox="1"/>
          <p:nvPr/>
        </p:nvSpPr>
        <p:spPr>
          <a:xfrm>
            <a:off x="1305278" y="733273"/>
            <a:ext cx="9581444" cy="3170099"/>
          </a:xfrm>
          <a:prstGeom prst="rect">
            <a:avLst/>
          </a:prstGeom>
          <a:noFill/>
        </p:spPr>
        <p:txBody>
          <a:bodyPr wrap="square">
            <a:spAutoFit/>
          </a:bodyPr>
          <a:lstStyle/>
          <a:p>
            <a:pPr>
              <a:buNone/>
            </a:pPr>
            <a:r>
              <a:rPr lang="en-IN" sz="2000" b="1" u="sng" dirty="0"/>
              <a:t>3.4 Muting Logic</a:t>
            </a:r>
          </a:p>
          <a:p>
            <a:pPr>
              <a:buNone/>
            </a:pPr>
            <a:r>
              <a:rPr lang="en-IN" sz="2000" dirty="0">
                <a:solidFill>
                  <a:schemeClr val="bg1"/>
                </a:solidFill>
              </a:rPr>
              <a:t>Muting is a </a:t>
            </a:r>
            <a:r>
              <a:rPr lang="en-IN" sz="2000" dirty="0" err="1">
                <a:solidFill>
                  <a:schemeClr val="bg1"/>
                </a:solidFill>
              </a:rPr>
              <a:t>boolean</a:t>
            </a:r>
            <a:r>
              <a:rPr lang="en-IN" sz="2000" dirty="0">
                <a:solidFill>
                  <a:schemeClr val="bg1"/>
                </a:solidFill>
              </a:rPr>
              <a:t> toggle separate from volume level.</a:t>
            </a:r>
          </a:p>
          <a:p>
            <a:pPr>
              <a:buNone/>
            </a:pPr>
            <a:r>
              <a:rPr lang="en-IN" sz="2000" dirty="0">
                <a:latin typeface="Courier New" panose="02070309020205020404" pitchFamily="49" charset="0"/>
              </a:rPr>
              <a:t># Reading</a:t>
            </a:r>
          </a:p>
          <a:p>
            <a:pPr>
              <a:buNone/>
            </a:pPr>
            <a:r>
              <a:rPr lang="en-IN" sz="2000" dirty="0" err="1">
                <a:latin typeface="Courier New" panose="02070309020205020404" pitchFamily="49" charset="0"/>
              </a:rPr>
              <a:t>is_muted</a:t>
            </a:r>
            <a:r>
              <a:rPr lang="en-IN" sz="2000" dirty="0">
                <a:latin typeface="Courier New" panose="02070309020205020404" pitchFamily="49" charset="0"/>
              </a:rPr>
              <a:t> = bool(</a:t>
            </a:r>
            <a:r>
              <a:rPr lang="en-IN" sz="2000" dirty="0" err="1">
                <a:latin typeface="Courier New" panose="02070309020205020404" pitchFamily="49" charset="0"/>
              </a:rPr>
              <a:t>volume.GetMute</a:t>
            </a:r>
            <a:r>
              <a:rPr lang="en-IN" sz="2000" dirty="0">
                <a:latin typeface="Courier New" panose="02070309020205020404" pitchFamily="49" charset="0"/>
              </a:rPr>
              <a:t>())</a:t>
            </a:r>
          </a:p>
          <a:p>
            <a:pPr>
              <a:buNone/>
            </a:pPr>
            <a:endParaRPr lang="en-IN" sz="2000" dirty="0">
              <a:latin typeface="Courier New" panose="02070309020205020404" pitchFamily="49" charset="0"/>
            </a:endParaRPr>
          </a:p>
          <a:p>
            <a:pPr>
              <a:buNone/>
            </a:pPr>
            <a:r>
              <a:rPr lang="en-IN" sz="2000" dirty="0">
                <a:latin typeface="Courier New" panose="02070309020205020404" pitchFamily="49" charset="0"/>
              </a:rPr>
              <a:t># Writing</a:t>
            </a:r>
          </a:p>
          <a:p>
            <a:pPr>
              <a:buNone/>
            </a:pPr>
            <a:r>
              <a:rPr lang="en-IN" sz="2000" dirty="0" err="1">
                <a:latin typeface="Courier New" panose="02070309020205020404" pitchFamily="49" charset="0"/>
              </a:rPr>
              <a:t>volume.SetMute</a:t>
            </a:r>
            <a:r>
              <a:rPr lang="en-IN" sz="2000" dirty="0">
                <a:latin typeface="Courier New" panose="02070309020205020404" pitchFamily="49" charset="0"/>
              </a:rPr>
              <a:t>(0, None) # Unmute</a:t>
            </a:r>
          </a:p>
          <a:p>
            <a:pPr>
              <a:buNone/>
            </a:pPr>
            <a:r>
              <a:rPr lang="en-IN" sz="2000" dirty="0" err="1">
                <a:latin typeface="Courier New" panose="02070309020205020404" pitchFamily="49" charset="0"/>
              </a:rPr>
              <a:t>volume.SetMute</a:t>
            </a:r>
            <a:r>
              <a:rPr lang="en-IN" sz="2000" dirty="0">
                <a:latin typeface="Courier New" panose="02070309020205020404" pitchFamily="49" charset="0"/>
              </a:rPr>
              <a:t>(1, None) # Mute</a:t>
            </a:r>
          </a:p>
          <a:p>
            <a:pPr>
              <a:buNone/>
            </a:pPr>
            <a:r>
              <a:rPr lang="en-IN" sz="2000" b="1" dirty="0"/>
              <a:t>Crucial Logic Note:</a:t>
            </a:r>
            <a:r>
              <a:rPr lang="en-IN" sz="2000" dirty="0"/>
              <a:t> </a:t>
            </a:r>
            <a:r>
              <a:rPr lang="en-IN" sz="2000" dirty="0">
                <a:solidFill>
                  <a:schemeClr val="bg1"/>
                </a:solidFill>
              </a:rPr>
              <a:t>The code toggles it nicely: </a:t>
            </a:r>
            <a:r>
              <a:rPr lang="en-IN" sz="2000" dirty="0" err="1">
                <a:latin typeface="Courier New" panose="02070309020205020404" pitchFamily="49" charset="0"/>
              </a:rPr>
              <a:t>volume.SetMute</a:t>
            </a:r>
            <a:r>
              <a:rPr lang="en-IN" sz="2000" dirty="0">
                <a:latin typeface="Courier New" panose="02070309020205020404" pitchFamily="49" charset="0"/>
              </a:rPr>
              <a:t>(0 if </a:t>
            </a:r>
            <a:r>
              <a:rPr lang="en-IN" sz="2000" dirty="0" err="1">
                <a:latin typeface="Courier New" panose="02070309020205020404" pitchFamily="49" charset="0"/>
              </a:rPr>
              <a:t>is_muted</a:t>
            </a:r>
            <a:r>
              <a:rPr lang="en-IN" sz="2000" dirty="0">
                <a:latin typeface="Courier New" panose="02070309020205020404" pitchFamily="49" charset="0"/>
              </a:rPr>
              <a:t> else 1, None)</a:t>
            </a:r>
            <a:r>
              <a:rPr lang="en-IN" sz="2000" dirty="0"/>
              <a:t>. </a:t>
            </a:r>
            <a:r>
              <a:rPr lang="en-IN" sz="2000" dirty="0">
                <a:solidFill>
                  <a:schemeClr val="bg1"/>
                </a:solidFill>
              </a:rPr>
              <a:t>This is a stateless toggle—it simply inverts the current reality.</a:t>
            </a:r>
          </a:p>
        </p:txBody>
      </p:sp>
    </p:spTree>
    <p:extLst>
      <p:ext uri="{BB962C8B-B14F-4D97-AF65-F5344CB8AC3E}">
        <p14:creationId xmlns:p14="http://schemas.microsoft.com/office/powerpoint/2010/main" val="528465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FBD18F-4D59-ACB7-EC8F-5AE7FA615C7A}"/>
              </a:ext>
            </a:extLst>
          </p:cNvPr>
          <p:cNvSpPr txBox="1"/>
          <p:nvPr/>
        </p:nvSpPr>
        <p:spPr>
          <a:xfrm>
            <a:off x="1075265" y="751134"/>
            <a:ext cx="10349091" cy="5355312"/>
          </a:xfrm>
          <a:prstGeom prst="rect">
            <a:avLst/>
          </a:prstGeom>
          <a:noFill/>
        </p:spPr>
        <p:txBody>
          <a:bodyPr wrap="square">
            <a:spAutoFit/>
          </a:bodyPr>
          <a:lstStyle/>
          <a:p>
            <a:pPr>
              <a:buNone/>
            </a:pPr>
            <a:r>
              <a:rPr lang="en-US" b="1" i="1" dirty="0">
                <a:effectLst>
                  <a:outerShdw blurRad="38100" dist="38100" dir="2700000" algn="tl">
                    <a:srgbClr val="000000">
                      <a:alpha val="43137"/>
                    </a:srgbClr>
                  </a:outerShdw>
                </a:effectLst>
              </a:rPr>
              <a:t>4. FRONTEND SETUP (TKINTER ARCHITECTURE)</a:t>
            </a:r>
          </a:p>
          <a:p>
            <a:pPr>
              <a:buNone/>
            </a:pPr>
            <a:endParaRPr lang="en-US" b="1" dirty="0"/>
          </a:p>
          <a:p>
            <a:pPr>
              <a:buNone/>
            </a:pPr>
            <a:r>
              <a:rPr lang="en-US" b="1" u="sng" dirty="0"/>
              <a:t>5.1 The Root Window</a:t>
            </a:r>
          </a:p>
          <a:p>
            <a:pPr>
              <a:buNone/>
            </a:pPr>
            <a:r>
              <a:rPr lang="en-US" dirty="0">
                <a:latin typeface="Courier New" panose="02070309020205020404" pitchFamily="49" charset="0"/>
              </a:rPr>
              <a:t>root = </a:t>
            </a:r>
            <a:r>
              <a:rPr lang="en-US" dirty="0" err="1">
                <a:latin typeface="Courier New" panose="02070309020205020404" pitchFamily="49" charset="0"/>
              </a:rPr>
              <a:t>tk.Tk</a:t>
            </a:r>
            <a:r>
              <a:rPr lang="en-US" dirty="0">
                <a:latin typeface="Courier New" panose="02070309020205020404" pitchFamily="49" charset="0"/>
              </a:rPr>
              <a:t>()</a:t>
            </a:r>
          </a:p>
          <a:p>
            <a:pPr>
              <a:buNone/>
            </a:pPr>
            <a:r>
              <a:rPr lang="en-US" dirty="0" err="1">
                <a:latin typeface="Courier New" panose="02070309020205020404" pitchFamily="49" charset="0"/>
              </a:rPr>
              <a:t>root.geometry</a:t>
            </a:r>
            <a:r>
              <a:rPr lang="en-US" dirty="0">
                <a:latin typeface="Courier New" panose="02070309020205020404" pitchFamily="49" charset="0"/>
              </a:rPr>
              <a:t>("420x280")</a:t>
            </a:r>
          </a:p>
          <a:p>
            <a:pPr>
              <a:buNone/>
            </a:pPr>
            <a:r>
              <a:rPr lang="en-US" dirty="0">
                <a:solidFill>
                  <a:schemeClr val="bg1"/>
                </a:solidFill>
              </a:rPr>
              <a:t>We created a fixed-size window </a:t>
            </a:r>
            <a:r>
              <a:rPr lang="en-US" dirty="0"/>
              <a:t>(</a:t>
            </a:r>
            <a:r>
              <a:rPr lang="en-US" dirty="0">
                <a:latin typeface="Courier New" panose="02070309020205020404" pitchFamily="49" charset="0"/>
              </a:rPr>
              <a:t>resizable(False, False)</a:t>
            </a:r>
            <a:r>
              <a:rPr lang="en-US" dirty="0"/>
              <a:t>). </a:t>
            </a:r>
            <a:r>
              <a:rPr lang="en-US" dirty="0">
                <a:solidFill>
                  <a:schemeClr val="bg1"/>
                </a:solidFill>
              </a:rPr>
              <a:t>This is a good choice for utility tools, as it prevents layout breakage and keeps the UI compact like a widget.</a:t>
            </a:r>
          </a:p>
          <a:p>
            <a:pPr>
              <a:buNone/>
            </a:pPr>
            <a:endParaRPr lang="en-US" dirty="0"/>
          </a:p>
          <a:p>
            <a:pPr>
              <a:buNone/>
            </a:pPr>
            <a:endParaRPr lang="en-US" dirty="0"/>
          </a:p>
          <a:p>
            <a:pPr>
              <a:buNone/>
            </a:pPr>
            <a:r>
              <a:rPr lang="en-US" b="1" u="sng" dirty="0"/>
              <a:t>5.2 Modern Styling with </a:t>
            </a:r>
            <a:r>
              <a:rPr lang="en-US" b="1" u="sng" dirty="0" err="1">
                <a:latin typeface="Courier New" panose="02070309020205020404" pitchFamily="49" charset="0"/>
              </a:rPr>
              <a:t>ttk.Style</a:t>
            </a:r>
            <a:endParaRPr lang="en-US" b="1" u="sng" dirty="0"/>
          </a:p>
          <a:p>
            <a:pPr>
              <a:buNone/>
            </a:pPr>
            <a:r>
              <a:rPr lang="en-US" dirty="0">
                <a:solidFill>
                  <a:schemeClr val="bg1"/>
                </a:solidFill>
              </a:rPr>
              <a:t>Standard </a:t>
            </a:r>
            <a:r>
              <a:rPr lang="en-US" dirty="0" err="1">
                <a:solidFill>
                  <a:schemeClr val="bg1"/>
                </a:solidFill>
              </a:rPr>
              <a:t>Tkinter</a:t>
            </a:r>
            <a:r>
              <a:rPr lang="en-US" dirty="0">
                <a:solidFill>
                  <a:schemeClr val="bg1"/>
                </a:solidFill>
              </a:rPr>
              <a:t> looks like Windows 95. Your code modernizes it using </a:t>
            </a:r>
            <a:r>
              <a:rPr lang="en-US" dirty="0" err="1">
                <a:solidFill>
                  <a:schemeClr val="bg1"/>
                </a:solidFill>
                <a:latin typeface="Courier New" panose="02070309020205020404" pitchFamily="49" charset="0"/>
              </a:rPr>
              <a:t>ttk</a:t>
            </a:r>
            <a:r>
              <a:rPr lang="en-US" dirty="0">
                <a:solidFill>
                  <a:schemeClr val="bg1"/>
                </a:solidFill>
              </a:rPr>
              <a:t> (Themed </a:t>
            </a:r>
            <a:r>
              <a:rPr lang="en-US" dirty="0" err="1">
                <a:solidFill>
                  <a:schemeClr val="bg1"/>
                </a:solidFill>
              </a:rPr>
              <a:t>Tkinter</a:t>
            </a:r>
            <a:r>
              <a:rPr lang="en-US" dirty="0">
                <a:solidFill>
                  <a:schemeClr val="bg1"/>
                </a:solidFill>
              </a:rPr>
              <a:t>) and custom styles.</a:t>
            </a:r>
          </a:p>
          <a:p>
            <a:pPr>
              <a:buNone/>
            </a:pPr>
            <a:r>
              <a:rPr lang="en-US" dirty="0" err="1">
                <a:latin typeface="Courier New" panose="02070309020205020404" pitchFamily="49" charset="0"/>
              </a:rPr>
              <a:t>style.configure</a:t>
            </a:r>
            <a:r>
              <a:rPr lang="en-US" dirty="0">
                <a:latin typeface="Courier New" panose="02070309020205020404" pitchFamily="49" charset="0"/>
              </a:rPr>
              <a:t>("</a:t>
            </a:r>
            <a:r>
              <a:rPr lang="en-US" dirty="0" err="1">
                <a:latin typeface="Courier New" panose="02070309020205020404" pitchFamily="49" charset="0"/>
              </a:rPr>
              <a:t>Accent.TButton</a:t>
            </a:r>
            <a:r>
              <a:rPr lang="en-US" dirty="0">
                <a:latin typeface="Courier New" panose="02070309020205020404" pitchFamily="49" charset="0"/>
              </a:rPr>
              <a:t>", background="#ef4444", ...)</a:t>
            </a:r>
          </a:p>
          <a:p>
            <a:pPr>
              <a:buNone/>
            </a:pPr>
            <a:endParaRPr lang="en-US" dirty="0">
              <a:latin typeface="Courier New" panose="02070309020205020404" pitchFamily="49" charset="0"/>
            </a:endParaRPr>
          </a:p>
          <a:p>
            <a:pPr>
              <a:buFont typeface="Arial" panose="020B0604020202020204" pitchFamily="34" charset="0"/>
              <a:buChar char="•"/>
            </a:pPr>
            <a:r>
              <a:rPr lang="en-US" b="1" dirty="0"/>
              <a:t>Separation of Concerns</a:t>
            </a:r>
            <a:r>
              <a:rPr lang="en-US" b="1" dirty="0">
                <a:solidFill>
                  <a:schemeClr val="bg1"/>
                </a:solidFill>
              </a:rPr>
              <a:t>:</a:t>
            </a:r>
            <a:r>
              <a:rPr lang="en-US" dirty="0">
                <a:solidFill>
                  <a:schemeClr val="bg1"/>
                </a:solidFill>
              </a:rPr>
              <a:t> Instead of setting </a:t>
            </a:r>
            <a:r>
              <a:rPr lang="en-US" dirty="0" err="1">
                <a:solidFill>
                  <a:schemeClr val="bg1"/>
                </a:solidFill>
                <a:latin typeface="Courier New" panose="02070309020205020404" pitchFamily="49" charset="0"/>
              </a:rPr>
              <a:t>bg</a:t>
            </a:r>
            <a:r>
              <a:rPr lang="en-US" dirty="0">
                <a:solidFill>
                  <a:schemeClr val="bg1"/>
                </a:solidFill>
                <a:latin typeface="Courier New" panose="02070309020205020404" pitchFamily="49" charset="0"/>
              </a:rPr>
              <a:t>="red"</a:t>
            </a:r>
            <a:r>
              <a:rPr lang="en-US" dirty="0">
                <a:solidFill>
                  <a:schemeClr val="bg1"/>
                </a:solidFill>
              </a:rPr>
              <a:t> on every button, you defined a style class</a:t>
            </a:r>
            <a:r>
              <a:rPr lang="en-US" dirty="0"/>
              <a:t> </a:t>
            </a:r>
            <a:r>
              <a:rPr lang="en-US" dirty="0" err="1">
                <a:latin typeface="Courier New" panose="02070309020205020404" pitchFamily="49" charset="0"/>
              </a:rPr>
              <a:t>Accent.TButton</a:t>
            </a:r>
            <a:r>
              <a:rPr lang="en-US" dirty="0"/>
              <a:t>. </a:t>
            </a:r>
            <a:r>
              <a:rPr lang="en-US" dirty="0">
                <a:solidFill>
                  <a:schemeClr val="bg1"/>
                </a:solidFill>
              </a:rPr>
              <a:t>This makes it easy to change the application's theme centrally.</a:t>
            </a:r>
          </a:p>
          <a:p>
            <a:pPr>
              <a:buFont typeface="Arial" panose="020B0604020202020204" pitchFamily="34" charset="0"/>
              <a:buChar char="•"/>
            </a:pPr>
            <a:endParaRPr lang="en-US" dirty="0"/>
          </a:p>
          <a:p>
            <a:pPr>
              <a:buFont typeface="Arial" panose="020B0604020202020204" pitchFamily="34" charset="0"/>
              <a:buChar char="•"/>
            </a:pPr>
            <a:r>
              <a:rPr lang="en-US" b="1" dirty="0"/>
              <a:t>Dynamic Styling:</a:t>
            </a:r>
            <a:r>
              <a:rPr lang="en-US" dirty="0">
                <a:solidFill>
                  <a:schemeClr val="bg1"/>
                </a:solidFill>
              </a:rPr>
              <a:t> In </a:t>
            </a:r>
            <a:r>
              <a:rPr lang="en-US" dirty="0" err="1">
                <a:latin typeface="Courier New" panose="02070309020205020404" pitchFamily="49" charset="0"/>
              </a:rPr>
              <a:t>update_mute_button_text</a:t>
            </a:r>
            <a:r>
              <a:rPr lang="en-US" dirty="0"/>
              <a:t>, </a:t>
            </a:r>
            <a:r>
              <a:rPr lang="en-US" dirty="0">
                <a:solidFill>
                  <a:schemeClr val="bg1"/>
                </a:solidFill>
              </a:rPr>
              <a:t>you switch styles dynamically </a:t>
            </a:r>
            <a:r>
              <a:rPr lang="en-US" dirty="0"/>
              <a:t>(</a:t>
            </a:r>
            <a:r>
              <a:rPr lang="en-US" dirty="0">
                <a:latin typeface="Courier New" panose="02070309020205020404" pitchFamily="49" charset="0"/>
              </a:rPr>
              <a:t>style="</a:t>
            </a:r>
            <a:r>
              <a:rPr lang="en-US" dirty="0" err="1">
                <a:latin typeface="Courier New" panose="02070309020205020404" pitchFamily="49" charset="0"/>
              </a:rPr>
              <a:t>Accent.TButton</a:t>
            </a:r>
            <a:r>
              <a:rPr lang="en-US" dirty="0">
                <a:latin typeface="Courier New" panose="02070309020205020404" pitchFamily="49" charset="0"/>
              </a:rPr>
              <a:t>"</a:t>
            </a:r>
            <a:r>
              <a:rPr lang="en-US" dirty="0"/>
              <a:t> vs </a:t>
            </a:r>
            <a:r>
              <a:rPr lang="en-US" dirty="0">
                <a:latin typeface="Courier New" panose="02070309020205020404" pitchFamily="49" charset="0"/>
              </a:rPr>
              <a:t>style="</a:t>
            </a:r>
            <a:r>
              <a:rPr lang="en-US" dirty="0" err="1">
                <a:latin typeface="Courier New" panose="02070309020205020404" pitchFamily="49" charset="0"/>
              </a:rPr>
              <a:t>Outline.TButton</a:t>
            </a:r>
            <a:r>
              <a:rPr lang="en-US" dirty="0">
                <a:latin typeface="Courier New" panose="02070309020205020404" pitchFamily="49" charset="0"/>
              </a:rPr>
              <a:t>"</a:t>
            </a:r>
            <a:r>
              <a:rPr lang="en-US" dirty="0"/>
              <a:t>) </a:t>
            </a:r>
            <a:r>
              <a:rPr lang="en-US" dirty="0">
                <a:solidFill>
                  <a:schemeClr val="bg1"/>
                </a:solidFill>
              </a:rPr>
              <a:t>to provide visual feedback (Red = Muted) without manually re-coloring every border and font property.</a:t>
            </a:r>
          </a:p>
        </p:txBody>
      </p:sp>
    </p:spTree>
    <p:extLst>
      <p:ext uri="{BB962C8B-B14F-4D97-AF65-F5344CB8AC3E}">
        <p14:creationId xmlns:p14="http://schemas.microsoft.com/office/powerpoint/2010/main" val="2096529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0D5AFB-080C-BD62-E9F3-799E94C87BF8}"/>
              </a:ext>
            </a:extLst>
          </p:cNvPr>
          <p:cNvPicPr>
            <a:picLocks noChangeAspect="1"/>
          </p:cNvPicPr>
          <p:nvPr/>
        </p:nvPicPr>
        <p:blipFill>
          <a:blip r:embed="rId2"/>
          <a:stretch>
            <a:fillRect/>
          </a:stretch>
        </p:blipFill>
        <p:spPr>
          <a:xfrm>
            <a:off x="1043786" y="1397924"/>
            <a:ext cx="4373788" cy="3223237"/>
          </a:xfrm>
          <a:prstGeom prst="rect">
            <a:avLst/>
          </a:prstGeom>
        </p:spPr>
      </p:pic>
      <p:sp>
        <p:nvSpPr>
          <p:cNvPr id="5" name="TextBox 4">
            <a:extLst>
              <a:ext uri="{FF2B5EF4-FFF2-40B4-BE49-F238E27FC236}">
                <a16:creationId xmlns:a16="http://schemas.microsoft.com/office/drawing/2014/main" id="{6F4429EB-4DEC-71AD-3CD1-4CFF7DB76608}"/>
              </a:ext>
            </a:extLst>
          </p:cNvPr>
          <p:cNvSpPr txBox="1"/>
          <p:nvPr/>
        </p:nvSpPr>
        <p:spPr>
          <a:xfrm>
            <a:off x="5732207" y="1397924"/>
            <a:ext cx="6100916" cy="3139321"/>
          </a:xfrm>
          <a:prstGeom prst="rect">
            <a:avLst/>
          </a:prstGeom>
          <a:noFill/>
        </p:spPr>
        <p:txBody>
          <a:bodyPr wrap="square">
            <a:spAutoFit/>
          </a:bodyPr>
          <a:lstStyle/>
          <a:p>
            <a:pPr>
              <a:buNone/>
            </a:pPr>
            <a:r>
              <a:rPr lang="en-IN" i="1" dirty="0">
                <a:effectLst>
                  <a:outerShdw blurRad="38100" dist="38100" dir="2700000" algn="tl">
                    <a:srgbClr val="000000">
                      <a:alpha val="43137"/>
                    </a:srgbClr>
                  </a:outerShdw>
                </a:effectLst>
              </a:rPr>
              <a:t>Bullet Points:</a:t>
            </a:r>
          </a:p>
          <a:p>
            <a:pPr>
              <a:buFont typeface="Arial" panose="020B0604020202020204" pitchFamily="34" charset="0"/>
              <a:buChar char="•"/>
            </a:pPr>
            <a:r>
              <a:rPr lang="en-IN" b="1" dirty="0"/>
              <a:t>Dark Mode Design:</a:t>
            </a:r>
            <a:r>
              <a:rPr lang="en-IN" dirty="0"/>
              <a:t> </a:t>
            </a:r>
            <a:r>
              <a:rPr lang="en-IN" dirty="0">
                <a:solidFill>
                  <a:schemeClr val="bg1"/>
                </a:solidFill>
              </a:rPr>
              <a:t>Custom </a:t>
            </a:r>
            <a:r>
              <a:rPr lang="en-IN" dirty="0" err="1">
                <a:solidFill>
                  <a:schemeClr val="bg1"/>
                </a:solidFill>
              </a:rPr>
              <a:t>color</a:t>
            </a:r>
            <a:r>
              <a:rPr lang="en-IN" dirty="0">
                <a:solidFill>
                  <a:schemeClr val="bg1"/>
                </a:solidFill>
              </a:rPr>
              <a:t> palette (</a:t>
            </a:r>
            <a:r>
              <a:rPr lang="en-IN" dirty="0">
                <a:solidFill>
                  <a:schemeClr val="bg1"/>
                </a:solidFill>
                <a:latin typeface="Courier New" panose="02070309020205020404" pitchFamily="49" charset="0"/>
              </a:rPr>
              <a:t>#0f1724</a:t>
            </a:r>
            <a:r>
              <a:rPr lang="en-IN" dirty="0">
                <a:solidFill>
                  <a:schemeClr val="bg1"/>
                </a:solidFill>
              </a:rPr>
              <a:t> background) reduces eye strain and matches modern gaming/development aesthetics.</a:t>
            </a:r>
          </a:p>
          <a:p>
            <a:pPr>
              <a:buFont typeface="Arial" panose="020B0604020202020204" pitchFamily="34" charset="0"/>
              <a:buChar char="•"/>
            </a:pPr>
            <a:r>
              <a:rPr lang="en-IN" b="1" dirty="0"/>
              <a:t>Immediate Visual Feedback:</a:t>
            </a:r>
            <a:r>
              <a:rPr lang="en-IN" dirty="0"/>
              <a:t> </a:t>
            </a:r>
            <a:r>
              <a:rPr lang="en-IN" dirty="0">
                <a:solidFill>
                  <a:schemeClr val="bg1"/>
                </a:solidFill>
              </a:rPr>
              <a:t>Large, color-coded progress bar and dynamic microphone icon (Blue=Active, Red=Muted) allow users to verify status at a glance.</a:t>
            </a:r>
          </a:p>
          <a:p>
            <a:pPr>
              <a:buFont typeface="Arial" panose="020B0604020202020204" pitchFamily="34" charset="0"/>
              <a:buChar char="•"/>
            </a:pPr>
            <a:r>
              <a:rPr lang="en-IN" b="1" dirty="0"/>
              <a:t>Precision Control</a:t>
            </a:r>
            <a:r>
              <a:rPr lang="en-IN" b="1" dirty="0">
                <a:solidFill>
                  <a:schemeClr val="bg1"/>
                </a:solidFill>
              </a:rPr>
              <a:t>:</a:t>
            </a:r>
            <a:r>
              <a:rPr lang="en-IN" dirty="0">
                <a:solidFill>
                  <a:schemeClr val="bg1"/>
                </a:solidFill>
              </a:rPr>
              <a:t> Offers dual control mechanisms: a slider for coarse adjustments and +/- 5% buttons for fine-tuning.</a:t>
            </a:r>
          </a:p>
          <a:p>
            <a:pPr>
              <a:buFont typeface="Arial" panose="020B0604020202020204" pitchFamily="34" charset="0"/>
              <a:buChar char="•"/>
            </a:pPr>
            <a:r>
              <a:rPr lang="en-IN" b="1" dirty="0"/>
              <a:t>Status Monitoring</a:t>
            </a:r>
            <a:r>
              <a:rPr lang="en-IN" b="1" dirty="0">
                <a:solidFill>
                  <a:schemeClr val="bg1"/>
                </a:solidFill>
              </a:rPr>
              <a:t>:</a:t>
            </a:r>
            <a:r>
              <a:rPr lang="en-IN" dirty="0">
                <a:solidFill>
                  <a:schemeClr val="bg1"/>
                </a:solidFill>
              </a:rPr>
              <a:t> Acts as a secondary monitor widget to confirm mute status during full-screen applications or meetings.</a:t>
            </a:r>
          </a:p>
        </p:txBody>
      </p:sp>
      <p:sp>
        <p:nvSpPr>
          <p:cNvPr id="6" name="TextBox 5">
            <a:extLst>
              <a:ext uri="{FF2B5EF4-FFF2-40B4-BE49-F238E27FC236}">
                <a16:creationId xmlns:a16="http://schemas.microsoft.com/office/drawing/2014/main" id="{32470E66-5D36-1D4E-C708-385ACEF62CB6}"/>
              </a:ext>
            </a:extLst>
          </p:cNvPr>
          <p:cNvSpPr txBox="1"/>
          <p:nvPr/>
        </p:nvSpPr>
        <p:spPr>
          <a:xfrm>
            <a:off x="2782529" y="373626"/>
            <a:ext cx="4729316" cy="523220"/>
          </a:xfrm>
          <a:prstGeom prst="rect">
            <a:avLst/>
          </a:prstGeom>
          <a:noFill/>
        </p:spPr>
        <p:txBody>
          <a:bodyPr wrap="square" rtlCol="0">
            <a:spAutoFit/>
          </a:bodyPr>
          <a:lstStyle/>
          <a:p>
            <a:pPr algn="ctr"/>
            <a:r>
              <a:rPr lang="en-US" sz="2800" b="1" i="1" dirty="0">
                <a:effectLst>
                  <a:outerShdw blurRad="38100" dist="38100" dir="2700000" algn="tl">
                    <a:srgbClr val="000000">
                      <a:alpha val="43137"/>
                    </a:srgbClr>
                  </a:outerShdw>
                </a:effectLst>
              </a:rPr>
              <a:t>OUTPUT</a:t>
            </a:r>
            <a:endParaRPr lang="en-IN" sz="2800" b="1" i="1"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2E17FDD0-0A0D-1F28-CAEB-5DEBE0405A6E}"/>
              </a:ext>
            </a:extLst>
          </p:cNvPr>
          <p:cNvSpPr txBox="1"/>
          <p:nvPr/>
        </p:nvSpPr>
        <p:spPr>
          <a:xfrm>
            <a:off x="3126658" y="5673213"/>
            <a:ext cx="4837471" cy="369332"/>
          </a:xfrm>
          <a:prstGeom prst="rect">
            <a:avLst/>
          </a:prstGeom>
          <a:noFill/>
        </p:spPr>
        <p:txBody>
          <a:bodyPr wrap="square" rtlCol="0">
            <a:spAutoFit/>
          </a:bodyPr>
          <a:lstStyle/>
          <a:p>
            <a:pPr algn="ctr"/>
            <a:r>
              <a:rPr lang="en-US" dirty="0">
                <a:effectLst>
                  <a:outerShdw blurRad="38100" dist="38100" dir="2700000" algn="tl">
                    <a:srgbClr val="000000">
                      <a:alpha val="43137"/>
                    </a:srgbClr>
                  </a:outerShdw>
                </a:effectLst>
              </a:rPr>
              <a:t>THANK YOU SO MUCH</a:t>
            </a:r>
            <a:endParaRPr lang="en-IN"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45294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181</TotalTime>
  <Words>1040</Words>
  <Application>Microsoft Office PowerPoint</Application>
  <PresentationFormat>Widescreen</PresentationFormat>
  <Paragraphs>92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Copperplate Gothic Light</vt:lpstr>
      <vt:lpstr>Courier New</vt:lpstr>
      <vt:lpstr>Tw Cen MT</vt:lpstr>
      <vt:lpstr>Wingdings</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Gautam chipkar</dc:creator>
  <cp:lastModifiedBy>Gautam chipkar</cp:lastModifiedBy>
  <cp:revision>1</cp:revision>
  <dcterms:created xsi:type="dcterms:W3CDTF">2025-11-20T13:18:00Z</dcterms:created>
  <dcterms:modified xsi:type="dcterms:W3CDTF">2025-11-20T19:19:57Z</dcterms:modified>
</cp:coreProperties>
</file>