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6E63EA-A37F-145B-C411-53A37C3B2323}"/>
              </a:ext>
            </a:extLst>
          </p:cNvPr>
          <p:cNvSpPr txBox="1"/>
          <p:nvPr/>
        </p:nvSpPr>
        <p:spPr>
          <a:xfrm>
            <a:off x="3608439" y="2996832"/>
            <a:ext cx="5329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Light" panose="020E0507020206020404" pitchFamily="34" charset="0"/>
              </a:rPr>
              <a:t>Controlling volume with hand gestures using a webcam 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Light" panose="020E0507020206020404" pitchFamily="34" charset="0"/>
            </a:endParaRPr>
          </a:p>
          <a:p>
            <a:pPr algn="ctr"/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59C58-E821-BB8F-B60A-FC827FA45B15}"/>
              </a:ext>
            </a:extLst>
          </p:cNvPr>
          <p:cNvSpPr txBox="1"/>
          <p:nvPr/>
        </p:nvSpPr>
        <p:spPr>
          <a:xfrm>
            <a:off x="4876801" y="4109884"/>
            <a:ext cx="4630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: GAUTAM N CHIPKAR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 descr="A blue and orange text&#10;&#10;AI-generated content may be incorrect.">
            <a:extLst>
              <a:ext uri="{FF2B5EF4-FFF2-40B4-BE49-F238E27FC236}">
                <a16:creationId xmlns:a16="http://schemas.microsoft.com/office/drawing/2014/main" id="{C35E1F6D-EB72-5661-3432-E9513D0D0F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01418" y="297181"/>
            <a:ext cx="2143125" cy="2143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88010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05F0D5-B290-5751-B437-3E83AA1D7FFE}"/>
              </a:ext>
            </a:extLst>
          </p:cNvPr>
          <p:cNvSpPr txBox="1"/>
          <p:nvPr/>
        </p:nvSpPr>
        <p:spPr>
          <a:xfrm>
            <a:off x="2005781" y="550606"/>
            <a:ext cx="8436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2 </a:t>
            </a:r>
          </a:p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GESTURE RECOGNITION AND DISTANCE MEASUREMENT </a:t>
            </a:r>
          </a:p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Core code snippets used for HAND LAND MARK DETECTION 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702E5-4B50-893B-DE65-A764F6B539EB}"/>
              </a:ext>
            </a:extLst>
          </p:cNvPr>
          <p:cNvSpPr txBox="1"/>
          <p:nvPr/>
        </p:nvSpPr>
        <p:spPr>
          <a:xfrm>
            <a:off x="1730477" y="1671484"/>
            <a:ext cx="70202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IMPORTING LIBRARIES :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 cv2,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mediapipe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mp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numpy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np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Pandas as pd, matplotlib as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plt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Loads all essential libraries for video capture , landmark detection , data handling and visualization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2. INITILAZING MEDIAPIPE HANDS 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mp_hands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mp.solutions.hands</a:t>
            </a:r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mp_drawing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mp.solutions.drawing_utils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hands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mp_hands.HANDS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(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static_image_mode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=False, 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model_complexity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=1,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min_detection_confidence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=0.75,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min_tracking_confidence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=0.75 )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Sets up the hand detection model with confidence thresholds and tracking enabled 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Detects up to 2 hands and tracks 21 key landmarks per hand</a:t>
            </a: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504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E6839-5F76-A2C0-200C-E0600D49756B}"/>
              </a:ext>
            </a:extLst>
          </p:cNvPr>
          <p:cNvSpPr txBox="1"/>
          <p:nvPr/>
        </p:nvSpPr>
        <p:spPr>
          <a:xfrm>
            <a:off x="2358189" y="1106905"/>
            <a:ext cx="70585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CAPTURING FRAME FROM WEBCAM: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 = cv2.VideoCapture(0,cv2.CAP_DSHOW) ret, 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frame =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cap.read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cap.release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frame = cv2.flip(frame, 1)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frame_rgb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cv2.cvtColor(frame,cv2.Color(frame,cv2.COLOR_BGR2RGB)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Captures a live webcam frame, flips it for a mirror view, and converts it to RGB (required by MEDIAPIPE)</a:t>
            </a: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4. PROCESSING THE FRAME: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Results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hands.process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(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frames_rgb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            if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results.multi_hand_landmarks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:</a:t>
            </a:r>
          </a:p>
          <a:p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Hand_lamdmarks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=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results.multi_hand_landmarks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[0]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Sends the captured frame to the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Mediapie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model to detect and extract landmarks 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51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34297C-69C9-80AE-D453-FF56F845BF38}"/>
              </a:ext>
            </a:extLst>
          </p:cNvPr>
          <p:cNvSpPr txBox="1"/>
          <p:nvPr/>
        </p:nvSpPr>
        <p:spPr>
          <a:xfrm>
            <a:off x="1111044" y="570273"/>
            <a:ext cx="582069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 LANDMARK TABLE: 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 = cv2.VideoCapture(0) # Use 0 for the default webcam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not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cap.isOpened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print("Error: Cannot open webcam.")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print("Webcam opened. Starting feed...")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print("--- INTERRUPT KERNEL TO STOP ---")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try: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while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cap.isOpened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success, frame = </a:t>
            </a:r>
            <a:r>
              <a:rPr lang="en-I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cap.read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if not success: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    print("Ignoring empty camera frame.")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    continue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# Flip the image horizontally for a later selfie-view display</a:t>
            </a:r>
          </a:p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      frame = cv2.flip(frame, 1)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use case of this code is to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the detected hand landmarks from a single video frame, extract the specific coordinates for each of the 21 points, and organize that data into a structured list.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This list is then used to create the pandas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DataFrame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(the table).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A table of numbers and letters">
            <a:extLst>
              <a:ext uri="{FF2B5EF4-FFF2-40B4-BE49-F238E27FC236}">
                <a16:creationId xmlns:a16="http://schemas.microsoft.com/office/drawing/2014/main" id="{596653AD-99D9-3068-AFE0-4B7AFFD51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057" y="474360"/>
            <a:ext cx="4567955" cy="590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87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BC1B9-EF2E-8AF6-7FEC-A47FAFBB95CA}"/>
              </a:ext>
            </a:extLst>
          </p:cNvPr>
          <p:cNvSpPr txBox="1"/>
          <p:nvPr/>
        </p:nvSpPr>
        <p:spPr>
          <a:xfrm>
            <a:off x="1396001" y="363794"/>
            <a:ext cx="8750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DISTANCE CALCULATION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EE59D-8F16-845E-EBD1-DF806ACF0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225" y="831449"/>
            <a:ext cx="8678486" cy="2676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E3F116-0945-F84C-9377-5B7892907A13}"/>
              </a:ext>
            </a:extLst>
          </p:cNvPr>
          <p:cNvSpPr txBox="1"/>
          <p:nvPr/>
        </p:nvSpPr>
        <p:spPr>
          <a:xfrm>
            <a:off x="1468225" y="5818928"/>
            <a:ext cx="8678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 Case:</a:t>
            </a:r>
            <a:r>
              <a:rPr lang="en-US" dirty="0"/>
              <a:t> This function is a general-purpose mathematical tool. Its use case is to calculate the 2D Euclidean (straight-line) distance between any two points (p1, p2) on the screen. It takes two (x, y) coordinate tuples and returns a single distance value in pixels.</a:t>
            </a:r>
            <a:endParaRPr lang="en-IN" dirty="0"/>
          </a:p>
        </p:txBody>
      </p:sp>
      <p:pic>
        <p:nvPicPr>
          <p:cNvPr id="8" name="Picture 7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14D68891-6D12-11FA-D882-CA692569F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178" y="3557509"/>
            <a:ext cx="4988354" cy="221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5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CD8A88-15F1-C589-C6FA-DF9ED28EBC55}"/>
              </a:ext>
            </a:extLst>
          </p:cNvPr>
          <p:cNvSpPr txBox="1"/>
          <p:nvPr/>
        </p:nvSpPr>
        <p:spPr>
          <a:xfrm>
            <a:off x="1890252" y="55275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 SEQUENTIAL DISTANCE CALCULATION &amp;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C54ED-8F89-29B7-8BD5-47CE99190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52" y="1043357"/>
            <a:ext cx="7003437" cy="34401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C3DD03-CFEB-30BF-8BF9-CFC95D04FD54}"/>
              </a:ext>
            </a:extLst>
          </p:cNvPr>
          <p:cNvSpPr txBox="1"/>
          <p:nvPr/>
        </p:nvSpPr>
        <p:spPr>
          <a:xfrm>
            <a:off x="1258529" y="4614314"/>
            <a:ext cx="8652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 Case:</a:t>
            </a:r>
            <a:r>
              <a:rPr lang="en-US" dirty="0"/>
              <a:t> This snippet's use case is to process the detected landmarks for a single hand. It gets the pixel coordinates of all 5 fingertips, then calculates the distance between </a:t>
            </a:r>
            <a:r>
              <a:rPr lang="en-US" i="1" dirty="0"/>
              <a:t>sequential</a:t>
            </a:r>
            <a:r>
              <a:rPr lang="en-US" dirty="0"/>
              <a:t> tips (Thumb-to-Index, Index-to-Middle, etc.). It also </a:t>
            </a:r>
            <a:r>
              <a:rPr lang="en-US" i="1" dirty="0"/>
              <a:t>visualizes</a:t>
            </a:r>
            <a:r>
              <a:rPr lang="en-US" dirty="0"/>
              <a:t> these specific distances by drawing a magenta line between the corresponding fingertips.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41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F4FBE-8236-B673-5AB7-94185EF2599C}"/>
              </a:ext>
            </a:extLst>
          </p:cNvPr>
          <p:cNvSpPr txBox="1"/>
          <p:nvPr/>
        </p:nvSpPr>
        <p:spPr>
          <a:xfrm>
            <a:off x="1487130" y="444599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LIVE DATA DISPLAY (On-Screen Logging)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8652F-6924-B4EE-177E-482364B46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30" y="813931"/>
            <a:ext cx="7872692" cy="349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0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FF6C6D-DCB0-A10C-7EED-3C002F9EA56D}"/>
              </a:ext>
            </a:extLst>
          </p:cNvPr>
          <p:cNvSpPr txBox="1"/>
          <p:nvPr/>
        </p:nvSpPr>
        <p:spPr>
          <a:xfrm>
            <a:off x="1516625" y="4303589"/>
            <a:ext cx="82271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 Case : </a:t>
            </a:r>
            <a:r>
              <a:rPr lang="en-US" dirty="0"/>
              <a:t>This snippet's use case is to create a "dashboard" or "Heads-Up Display (HUD)" on the video feed. It first draws a dark, semi-transparent box at the bottom of the screen to make text readable. Then, it takes the </a:t>
            </a:r>
            <a:r>
              <a:rPr lang="en-US" dirty="0" err="1">
                <a:latin typeface="Courier New" panose="02070309020205020404" pitchFamily="49" charset="0"/>
              </a:rPr>
              <a:t>all_hand_distances</a:t>
            </a:r>
            <a:r>
              <a:rPr lang="en-US" dirty="0"/>
              <a:t> dictionary (populated by Snippet 2) and uses </a:t>
            </a:r>
            <a:r>
              <a:rPr lang="en-US" dirty="0">
                <a:latin typeface="Courier New" panose="02070309020205020404" pitchFamily="49" charset="0"/>
              </a:rPr>
              <a:t>cv2.putText</a:t>
            </a:r>
            <a:r>
              <a:rPr lang="en-US" dirty="0"/>
              <a:t> to "log" the current, real-time distance values for both the left and right hands, neatly organized in columns.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71749A-852B-9FB8-8551-4251873FD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50" y="839911"/>
            <a:ext cx="787269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29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D58A97-D58C-9E42-76DC-1D39F8C5D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731" y="1332683"/>
            <a:ext cx="6210214" cy="49931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FDF1AE-3323-F04C-7A5A-09AACADE242F}"/>
              </a:ext>
            </a:extLst>
          </p:cNvPr>
          <p:cNvSpPr txBox="1"/>
          <p:nvPr/>
        </p:nvSpPr>
        <p:spPr>
          <a:xfrm>
            <a:off x="762424" y="705038"/>
            <a:ext cx="439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PINCH DETECTION LOGIC :</a:t>
            </a:r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4BB50-2F59-C2F4-5863-B3DE5992D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36" y="1100031"/>
            <a:ext cx="5208721" cy="26362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51BA60-42A8-FA7D-06BE-32FFE03A3C8A}"/>
              </a:ext>
            </a:extLst>
          </p:cNvPr>
          <p:cNvSpPr txBox="1"/>
          <p:nvPr/>
        </p:nvSpPr>
        <p:spPr>
          <a:xfrm>
            <a:off x="855405" y="3829252"/>
            <a:ext cx="46384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snippet is where the program </a:t>
            </a:r>
            <a:r>
              <a:rPr lang="en-US" i="1" dirty="0">
                <a:solidFill>
                  <a:schemeClr val="bg1"/>
                </a:solidFill>
              </a:rPr>
              <a:t>calculates</a:t>
            </a:r>
            <a:r>
              <a:rPr lang="en-US" dirty="0">
                <a:solidFill>
                  <a:schemeClr val="bg1"/>
                </a:solidFill>
              </a:rPr>
              <a:t> the distance and </a:t>
            </a:r>
            <a:r>
              <a:rPr lang="en-US" i="1" dirty="0">
                <a:solidFill>
                  <a:schemeClr val="bg1"/>
                </a:solidFill>
              </a:rPr>
              <a:t>decides</a:t>
            </a:r>
            <a:r>
              <a:rPr lang="en-US" dirty="0">
                <a:solidFill>
                  <a:schemeClr val="bg1"/>
                </a:solidFill>
              </a:rPr>
              <a:t> if a pinch is happening. It gets the coordinates for the thumb and index tips, retrieves the distance we calculated, and compares it to the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PINCH_THRESHOLD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CC00F-E2B7-1648-3771-9A9696D1C7C9}"/>
              </a:ext>
            </a:extLst>
          </p:cNvPr>
          <p:cNvSpPr txBox="1"/>
          <p:nvPr/>
        </p:nvSpPr>
        <p:spPr>
          <a:xfrm>
            <a:off x="2782528" y="6095648"/>
            <a:ext cx="4935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THANK YOU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638E10-4C87-6FFB-F93B-B4A56489109E}"/>
              </a:ext>
            </a:extLst>
          </p:cNvPr>
          <p:cNvSpPr txBox="1"/>
          <p:nvPr/>
        </p:nvSpPr>
        <p:spPr>
          <a:xfrm>
            <a:off x="5634731" y="705038"/>
            <a:ext cx="330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OUTPUT: 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6723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{2DC48E87-2B05-4033-8C7C-E2513CED0ABB}tf04033919</Template>
  <TotalTime>206</TotalTime>
  <Words>749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Copperplate Gothic Light</vt:lpstr>
      <vt:lpstr>Courier New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 chipkar</dc:creator>
  <cp:lastModifiedBy>Gautam chipkar</cp:lastModifiedBy>
  <cp:revision>1</cp:revision>
  <dcterms:created xsi:type="dcterms:W3CDTF">2025-11-13T11:12:55Z</dcterms:created>
  <dcterms:modified xsi:type="dcterms:W3CDTF">2025-11-13T14:39:23Z</dcterms:modified>
</cp:coreProperties>
</file>